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Reconstructions per method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Reconstructions per method</c:v>
                </c:pt>
              </c:strCache>
            </c:strRef>
          </c:tx>
          <c:dPt>
            <c:idx val="0"/>
            <c:spPr>
              <a:solidFill>
                <a:srgbClr val="4285F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B443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4B400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F9D58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AB47BC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00ACC1"/>
              </a:solidFill>
              <a:ln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FF7043"/>
              </a:solidFill>
              <a:ln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9E9D24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MeshAnything</c:v>
                </c:pt>
                <c:pt idx="1">
                  <c:v>DHSP</c:v>
                </c:pt>
                <c:pt idx="2">
                  <c:v>Poisson</c:v>
                </c:pt>
                <c:pt idx="3">
                  <c:v>Point2Mesh</c:v>
                </c:pt>
                <c:pt idx="4">
                  <c:v>NKSR</c:v>
                </c:pt>
                <c:pt idx="5">
                  <c:v>2DGS</c:v>
                </c:pt>
                <c:pt idx="6">
                  <c:v>IER</c:v>
                </c:pt>
                <c:pt idx="7">
                  <c:v>SAP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11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59595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Reconstructions per input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Reconstructions per input</c:v>
                </c:pt>
              </c:strCache>
            </c:strRef>
          </c:tx>
          <c:dPt>
            <c:idx val="0"/>
            <c:spPr>
              <a:solidFill>
                <a:srgbClr val="4285F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B443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4B400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VGGSfM</c:v>
                </c:pt>
                <c:pt idx="1">
                  <c:v>MVS</c:v>
                </c:pt>
                <c:pt idx="2">
                  <c:v>MVS-clean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13</c:v>
                </c:pt>
                <c:pt idx="2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59595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Hours per method (28.7 h)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 per method (28.7 h)</c:v>
                </c:pt>
              </c:strCache>
            </c:strRef>
          </c:tx>
          <c:dPt>
            <c:idx val="0"/>
            <c:spPr>
              <a:solidFill>
                <a:srgbClr val="4285F4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B4437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F4B400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F9D58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DHSP</c:v>
                </c:pt>
                <c:pt idx="1">
                  <c:v>Point2Mesh</c:v>
                </c:pt>
                <c:pt idx="2">
                  <c:v>2DGS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16.22</c:v>
                </c:pt>
                <c:pt idx="1">
                  <c:v>9.63</c:v>
                </c:pt>
                <c:pt idx="2">
                  <c:v>1.95</c:v>
                </c:pt>
                <c:pt idx="3">
                  <c:v>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>
              <a:solidFill>
                <a:srgbClr val="595959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Best run on VGGSfM (minutes)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 run on VGGSfM (minutes)</c:v>
                </c:pt>
              </c:strCache>
            </c:strRef>
          </c:tx>
          <c:spPr>
            <a:solidFill>
              <a:srgbClr val="4285F4"/>
            </a:solidFill>
          </c:spPr>
          <c:cat>
            <c:strRef>
              <c:f>Sheet1!$A$2:$A$9</c:f>
              <c:strCache>
                <c:ptCount val="8"/>
                <c:pt idx="0">
                  <c:v>DHSP</c:v>
                </c:pt>
                <c:pt idx="1">
                  <c:v>2DGS</c:v>
                </c:pt>
                <c:pt idx="2">
                  <c:v>Point2Mesh</c:v>
                </c:pt>
                <c:pt idx="3">
                  <c:v>SAP</c:v>
                </c:pt>
                <c:pt idx="4">
                  <c:v>MeshAnything</c:v>
                </c:pt>
                <c:pt idx="5">
                  <c:v>Poisson</c:v>
                </c:pt>
                <c:pt idx="6">
                  <c:v>IER</c:v>
                </c:pt>
                <c:pt idx="7">
                  <c:v>NKSR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133.9</c:v>
                </c:pt>
                <c:pt idx="1">
                  <c:v>47.1</c:v>
                </c:pt>
                <c:pt idx="2">
                  <c:v>41.7</c:v>
                </c:pt>
                <c:pt idx="3">
                  <c:v>7.8</c:v>
                </c:pt>
                <c:pt idx="4">
                  <c:v>1.3</c:v>
                </c:pt>
                <c:pt idx="5">
                  <c:v>0.6</c:v>
                </c:pt>
                <c:pt idx="6">
                  <c:v>0.5</c:v>
                </c:pt>
                <c:pt idx="7">
                  <c:v>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595959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F@1% vs time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Poisson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4285F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Poisson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</c:f>
              <c:numCache>
                <c:formatCode>General</c:formatCode>
                <c:ptCount val="1"/>
                <c:pt idx="0">
                  <c:v>38.6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0.9987834681626038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IER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DB443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IER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Sheet1!$A$5:$A$5</c:f>
              <c:numCache>
                <c:formatCode>General</c:formatCode>
                <c:ptCount val="1"/>
                <c:pt idx="0">
                  <c:v>29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0.9981324750665553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Point2Mesh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F4B400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Point2Mesh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Sheet1!$A$8:$A$8</c:f>
              <c:numCache>
                <c:formatCode>General</c:formatCode>
                <c:ptCount val="1"/>
                <c:pt idx="0">
                  <c:v>2503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0.8442322686241801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MeshAnything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0F9D58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MeshAnything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Sheet1!$A$11:$A$11</c:f>
              <c:numCache>
                <c:formatCode>General</c:formatCode>
                <c:ptCount val="1"/>
                <c:pt idx="0">
                  <c:v>77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0.9865012892675366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DHSP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AB47BC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DHSP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Sheet1!$A$14:$A$14</c:f>
              <c:numCache>
                <c:formatCode>General</c:formatCode>
                <c:ptCount val="1"/>
                <c:pt idx="0">
                  <c:v>8036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0.9008321412561995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Sheet1!$B$16</c:f>
              <c:strCache>
                <c:ptCount val="1"/>
                <c:pt idx="0">
                  <c:v>NKSR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00ACC1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NKSR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6.6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0.9975022256035079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Sheet1!$B$19</c:f>
              <c:strCache>
                <c:ptCount val="1"/>
                <c:pt idx="0">
                  <c:v>SAP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FF7043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SAP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Sheet1!$A$20:$A$20</c:f>
              <c:numCache>
                <c:formatCode>General</c:formatCode>
                <c:ptCount val="1"/>
                <c:pt idx="0">
                  <c:v>470</c:v>
                </c:pt>
              </c:numCache>
            </c:numRef>
          </c:xVal>
          <c:yVal>
            <c:numRef>
              <c:f>Sheet1!$B$20:$B$20</c:f>
              <c:numCache>
                <c:formatCode>General</c:formatCode>
                <c:ptCount val="1"/>
                <c:pt idx="0">
                  <c:v>0.9976583965796535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Sheet1!$B$22</c:f>
              <c:strCache>
                <c:ptCount val="1"/>
                <c:pt idx="0">
                  <c:v>2DGS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9E9D2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2DGS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Sheet1!$A$23:$A$23</c:f>
              <c:numCache>
                <c:formatCode>General</c:formatCode>
                <c:ptCount val="1"/>
                <c:pt idx="0">
                  <c:v>2823</c:v>
                </c:pt>
              </c:numCache>
            </c:numRef>
          </c:xVal>
          <c:yVal>
            <c:numRef>
              <c:f>Sheet1!$B$23:$B$23</c:f>
              <c:numCache>
                <c:formatCode>General</c:formatCode>
                <c:ptCount val="1"/>
                <c:pt idx="0">
                  <c:v>0.9718174066702748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0000.0"/>
          <c:min val="1.0"/>
        </c:scaling>
        <c:delete val="0"/>
        <c:axPos val="b"/>
        <c:majorGridlines>
          <c:spPr>
            <a:ln>
              <a:solidFill>
                <a:srgbClr val="E3E6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95959"/>
                    </a:solidFill>
                    <a:latin typeface="Arial"/>
                  </a:rPr>
                  <a:t>Time (s, log scale)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8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95959"/>
                    </a:solidFill>
                    <a:latin typeface="Arial"/>
                  </a:rPr>
                  <a:t>F@1% ↑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F@1% vs triangles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Poisson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4285F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Poisson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</c:f>
              <c:numCache>
                <c:formatCode>General</c:formatCode>
                <c:ptCount val="1"/>
                <c:pt idx="0">
                  <c:v>1023553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0.9987834681626038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IER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DB443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IER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Sheet1!$A$5:$A$5</c:f>
              <c:numCache>
                <c:formatCode>General</c:formatCode>
                <c:ptCount val="1"/>
                <c:pt idx="0">
                  <c:v>17488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0.9981324750665553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Point2Mesh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F4B400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Point2Mesh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Sheet1!$A$8:$A$8</c:f>
              <c:numCache>
                <c:formatCode>General</c:formatCode>
                <c:ptCount val="1"/>
                <c:pt idx="0">
                  <c:v>10000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0.8442322686241801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MeshAnything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0F9D58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MeshAnything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Sheet1!$A$11:$A$11</c:f>
              <c:numCache>
                <c:formatCode>General</c:formatCode>
                <c:ptCount val="1"/>
                <c:pt idx="0">
                  <c:v>1435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0.9865012892675366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DHSP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AB47BC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DHSP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Sheet1!$A$14:$A$14</c:f>
              <c:numCache>
                <c:formatCode>General</c:formatCode>
                <c:ptCount val="1"/>
                <c:pt idx="0">
                  <c:v>6000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0.9008321412561995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Sheet1!$B$16</c:f>
              <c:strCache>
                <c:ptCount val="1"/>
                <c:pt idx="0">
                  <c:v>NKSR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00ACC1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NKSR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2088273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0.9975022256035079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Sheet1!$B$19</c:f>
              <c:strCache>
                <c:ptCount val="1"/>
                <c:pt idx="0">
                  <c:v>SAP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FF7043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SAP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Sheet1!$A$20:$A$20</c:f>
              <c:numCache>
                <c:formatCode>General</c:formatCode>
                <c:ptCount val="1"/>
                <c:pt idx="0">
                  <c:v>64168</c:v>
                </c:pt>
              </c:numCache>
            </c:numRef>
          </c:xVal>
          <c:yVal>
            <c:numRef>
              <c:f>Sheet1!$B$20:$B$20</c:f>
              <c:numCache>
                <c:formatCode>General</c:formatCode>
                <c:ptCount val="1"/>
                <c:pt idx="0">
                  <c:v>0.9976583965796535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Sheet1!$B$22</c:f>
              <c:strCache>
                <c:ptCount val="1"/>
                <c:pt idx="0">
                  <c:v>2DGS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0"/>
            <c:spPr>
              <a:solidFill>
                <a:srgbClr val="9E9D2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000">
                        <a:solidFill>
                          <a:srgbClr val="595959"/>
                        </a:solidFill>
                        <a:latin typeface="Arial"/>
                      </a:rPr>
                      <a:t>2DGS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Sheet1!$A$23:$A$23</c:f>
              <c:numCache>
                <c:formatCode>General</c:formatCode>
                <c:ptCount val="1"/>
                <c:pt idx="0">
                  <c:v>657447</c:v>
                </c:pt>
              </c:numCache>
            </c:numRef>
          </c:xVal>
          <c:yVal>
            <c:numRef>
              <c:f>Sheet1!$B$23:$B$23</c:f>
              <c:numCache>
                <c:formatCode>General</c:formatCode>
                <c:ptCount val="1"/>
                <c:pt idx="0">
                  <c:v>0.9718174066702748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000000.0"/>
          <c:min val="1000.0"/>
        </c:scaling>
        <c:delete val="0"/>
        <c:axPos val="b"/>
        <c:majorGridlines>
          <c:spPr>
            <a:ln>
              <a:solidFill>
                <a:srgbClr val="E3E6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95959"/>
                    </a:solidFill>
                    <a:latin typeface="Arial"/>
                  </a:rPr>
                  <a:t>Triangles (log scale)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8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595959"/>
                    </a:solidFill>
                    <a:latin typeface="Arial"/>
                  </a:rPr>
                  <a:t>F@1% ↑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image" Target="../media/image37.jpg"/><Relationship Id="rId10" Type="http://schemas.openxmlformats.org/officeDocument/2006/relationships/image" Target="../media/image3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8720"/>
            <a:ext cx="85953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5400" b="0">
                <a:solidFill>
                  <a:srgbClr val="000000"/>
                </a:solidFill>
                <a:latin typeface="Arial"/>
              </a:rPr>
              <a:t>CV802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103120"/>
            <a:ext cx="8595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Arial"/>
              </a:rPr>
              <a:t>Assignment 2: Surface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29000"/>
            <a:ext cx="8595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595959"/>
                </a:solidFill>
                <a:latin typeface="Arial"/>
              </a:rPr>
              <a:t>Anas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Problem Statement: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pic>
        <p:nvPicPr>
          <p:cNvPr id="4" name="Picture 3" descr="ps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833975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9827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points</a:t>
            </a:r>
          </a:p>
        </p:txBody>
      </p:sp>
      <p:pic>
        <p:nvPicPr>
          <p:cNvPr id="6" name="Picture 5" descr="ps_poi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051560"/>
            <a:ext cx="817673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6156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Poisson</a:t>
            </a:r>
          </a:p>
        </p:txBody>
      </p:sp>
      <p:pic>
        <p:nvPicPr>
          <p:cNvPr id="8" name="Picture 7" descr="ps_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051560"/>
            <a:ext cx="829029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91954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IER</a:t>
            </a:r>
          </a:p>
        </p:txBody>
      </p:sp>
      <p:pic>
        <p:nvPicPr>
          <p:cNvPr id="10" name="Picture 9" descr="ps_point2m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051560"/>
            <a:ext cx="823675" cy="2651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49397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Point2Mesh</a:t>
            </a:r>
          </a:p>
        </p:txBody>
      </p:sp>
      <p:pic>
        <p:nvPicPr>
          <p:cNvPr id="12" name="Picture 11" descr="ps_meshanyth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051560"/>
            <a:ext cx="808395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1877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MeshAnything</a:t>
            </a:r>
          </a:p>
        </p:txBody>
      </p:sp>
      <p:pic>
        <p:nvPicPr>
          <p:cNvPr id="14" name="Picture 13" descr="ps_dhs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1051560"/>
            <a:ext cx="841828" cy="2651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78714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DHSP</a:t>
            </a:r>
          </a:p>
        </p:txBody>
      </p:sp>
      <p:pic>
        <p:nvPicPr>
          <p:cNvPr id="16" name="Picture 15" descr="ps_nks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1051560"/>
            <a:ext cx="814408" cy="2651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5124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NKSR</a:t>
            </a:r>
          </a:p>
        </p:txBody>
      </p:sp>
      <p:pic>
        <p:nvPicPr>
          <p:cNvPr id="18" name="Picture 17" descr="ps_s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0" y="1051560"/>
            <a:ext cx="806066" cy="2651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1073" y="37673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SAP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25880" y="2377440"/>
            <a:ext cx="521208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4048" y="425196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Arial"/>
              </a:rPr>
              <a:t>VGGSfM points from Assignment 1  →  textured meshes (.obj)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pic>
        <p:nvPicPr>
          <p:cNvPr id="4" name="Picture 3" descr="fig_inpu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55" y="960120"/>
            <a:ext cx="7912889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046720" cy="296265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06240"/>
                <a:gridCol w="2103120"/>
                <a:gridCol w="17373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Venue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Screened Poisson (our implementation)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SGP / ACM TOG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2006 / 2013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IER meshing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ECCV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Point2Mesh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SIGGRAPH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MeshAnything 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arXiv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Deep Hybrid Self-Prior (DHSP)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ICCV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NKSR*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CVPR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Shape As Points (SAP)*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NeurIPS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2D Gaussian Splatting (2DGS)*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SIGGRAPH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* beyond the course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86868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Arial"/>
              </a:rPr>
              <a:t>61 reconstructions in total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325880"/>
          <a:ext cx="43891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663440" y="1325880"/>
          <a:ext cx="420624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GPU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42976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63440" y="914400"/>
          <a:ext cx="420624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4526280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One RTX 5000 Ada (32 GB). Others: SAP, MeshAnything, Poisson, IER, NKSR. DHSP includes its 3D and 2D stages. Not counted: failed attempts, e.g. a 15 h flattening run that never finished.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Results (VGGSfM)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fig_grid_vggsf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868" y="914400"/>
            <a:ext cx="545026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Comparison (½)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1440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Course list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88720"/>
          <a:ext cx="8375904" cy="1810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91640"/>
                <a:gridCol w="777240"/>
                <a:gridCol w="1188720"/>
                <a:gridCol w="914400"/>
                <a:gridCol w="1051560"/>
                <a:gridCol w="731520"/>
                <a:gridCol w="1005840"/>
                <a:gridCol w="1014984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Chamfer %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F@0.5%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NC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Watertight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Poisson (ours)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1.02M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0.149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0.988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39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IER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17k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0.187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29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Point2Mesh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0.553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0.844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0.530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42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MeshAnything 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1.4k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0.295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0.987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0.858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77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DHSP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6.0k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0.583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0.407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2.2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3090672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Beyond the course 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3364991"/>
          <a:ext cx="8375904" cy="12070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91640"/>
                <a:gridCol w="777240"/>
                <a:gridCol w="1188720"/>
                <a:gridCol w="914400"/>
                <a:gridCol w="1051560"/>
                <a:gridCol w="731520"/>
                <a:gridCol w="1005840"/>
                <a:gridCol w="1014984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Chamfer %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F@0.5%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NC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Watertight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NKSR*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2.09M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0.156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0.973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7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SAP*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64k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0.195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0.961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8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2DGS*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657k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0.289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0.972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0.864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47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4645152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VGGSfM input (138,677 points), best run per method.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Comparison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96112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Course list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52144"/>
          <a:ext cx="8375904" cy="18562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1051560"/>
                <a:gridCol w="1234440"/>
                <a:gridCol w="914400"/>
                <a:gridCol w="1051560"/>
                <a:gridCol w="1234440"/>
                <a:gridCol w="1289304"/>
              </a:tblGrid>
              <a:tr h="26517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 (487,451 points)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MVS-clean (487,047 points)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265176">
                <a:tc vMerge="1"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Chamfer %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Chamfer %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Poisson (ours)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0.127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41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0.127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40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IER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0.120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42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0.123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50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Point2Mesh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0.133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3.977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40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0.387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1.298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39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MeshAnything 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0.873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0.518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0.438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41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DHSP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0.636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4.0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0.627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5.9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31089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Beyond the course 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3364991"/>
          <a:ext cx="8375904" cy="1325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1051560"/>
                <a:gridCol w="1234440"/>
                <a:gridCol w="914400"/>
                <a:gridCol w="1051560"/>
                <a:gridCol w="1234440"/>
                <a:gridCol w="1289304"/>
              </a:tblGrid>
              <a:tr h="265176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 (487,451 points)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MVS-clean (487,047 points)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265176">
                <a:tc vMerge="1"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Chamfer %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 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Chamfer %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 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NKSR*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0.080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12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0.080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18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SAP*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0.963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0.197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9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0.948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0.239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2DGS*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0.938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0.308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30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0.928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0.336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16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Quality vs time and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868680"/>
          <a:ext cx="42519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17720" y="868680"/>
          <a:ext cx="425196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470916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VGGSfM input, best run per method. Higher is better; further left is faster (left chart) or lighter (right chart).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Back view (VGGSfM)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pic>
        <p:nvPicPr>
          <p:cNvPr id="4" name="Picture 3" descr="fig_grid_vggsfm_b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72281"/>
            <a:ext cx="8375904" cy="33247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Close-up: 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face_poi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7" y="891539"/>
            <a:ext cx="1481328" cy="148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Input points</a:t>
            </a:r>
          </a:p>
        </p:txBody>
      </p:sp>
      <p:pic>
        <p:nvPicPr>
          <p:cNvPr id="6" name="Picture 5" descr="face_pois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1" y="891539"/>
            <a:ext cx="1481328" cy="148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84831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Poisson (ours)</a:t>
            </a:r>
          </a:p>
        </p:txBody>
      </p:sp>
      <p:pic>
        <p:nvPicPr>
          <p:cNvPr id="8" name="Picture 7" descr="face_i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5" y="891539"/>
            <a:ext cx="1481328" cy="148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85615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IER</a:t>
            </a:r>
          </a:p>
        </p:txBody>
      </p:sp>
      <p:pic>
        <p:nvPicPr>
          <p:cNvPr id="10" name="Picture 9" descr="face_point2mes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891539"/>
            <a:ext cx="1481328" cy="148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Point2Mesh</a:t>
            </a:r>
          </a:p>
        </p:txBody>
      </p:sp>
      <p:pic>
        <p:nvPicPr>
          <p:cNvPr id="12" name="Picture 11" descr="face_meshanyth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3" y="891539"/>
            <a:ext cx="1481328" cy="148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83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MeshAnything V2</a:t>
            </a:r>
          </a:p>
        </p:txBody>
      </p:sp>
      <p:pic>
        <p:nvPicPr>
          <p:cNvPr id="14" name="Picture 13" descr="face_dhs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59" y="2775204"/>
            <a:ext cx="1481328" cy="1481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439" y="4274820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DHSP</a:t>
            </a:r>
          </a:p>
        </p:txBody>
      </p:sp>
      <p:pic>
        <p:nvPicPr>
          <p:cNvPr id="16" name="Picture 15" descr="face_nks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0944" y="2775204"/>
            <a:ext cx="1481328" cy="1481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35224" y="4274820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NKSR*</a:t>
            </a:r>
          </a:p>
        </p:txBody>
      </p:sp>
      <p:pic>
        <p:nvPicPr>
          <p:cNvPr id="18" name="Picture 17" descr="face_s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727" y="2775204"/>
            <a:ext cx="1481328" cy="148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36007" y="4274820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SAP*</a:t>
            </a:r>
          </a:p>
        </p:txBody>
      </p:sp>
      <p:pic>
        <p:nvPicPr>
          <p:cNvPr id="20" name="Picture 19" descr="face_twodg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2775204"/>
            <a:ext cx="1481328" cy="14813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36792" y="4274820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2DGS*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81728"/>
            <a:ext cx="7863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Shaded geometry of the best VGGSfM run per method, same crop for all. Red: triangles seen from the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Close-up: crossed 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pic>
        <p:nvPicPr>
          <p:cNvPr id="4" name="Picture 3" descr="arms_poi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72015"/>
            <a:ext cx="1572768" cy="1000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Input points</a:t>
            </a:r>
          </a:p>
        </p:txBody>
      </p:sp>
      <p:pic>
        <p:nvPicPr>
          <p:cNvPr id="6" name="Picture 5" descr="arms_pois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1" y="1372015"/>
            <a:ext cx="1572768" cy="10008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84831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Poisson (ours)</a:t>
            </a:r>
          </a:p>
        </p:txBody>
      </p:sp>
      <p:pic>
        <p:nvPicPr>
          <p:cNvPr id="8" name="Picture 7" descr="arms_i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5" y="1372015"/>
            <a:ext cx="1572768" cy="10008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85615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IER</a:t>
            </a:r>
          </a:p>
        </p:txBody>
      </p:sp>
      <p:pic>
        <p:nvPicPr>
          <p:cNvPr id="10" name="Picture 9" descr="arms_point2mes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72015"/>
            <a:ext cx="1572768" cy="10008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Point2Mesh</a:t>
            </a:r>
          </a:p>
        </p:txBody>
      </p:sp>
      <p:pic>
        <p:nvPicPr>
          <p:cNvPr id="12" name="Picture 11" descr="arms_meshanyth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3" y="1372015"/>
            <a:ext cx="1572768" cy="10008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83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MeshAnything V2</a:t>
            </a:r>
          </a:p>
        </p:txBody>
      </p:sp>
      <p:pic>
        <p:nvPicPr>
          <p:cNvPr id="14" name="Picture 13" descr="arms_dhs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39" y="2775204"/>
            <a:ext cx="1572768" cy="10008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439" y="3794344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DHSP</a:t>
            </a:r>
          </a:p>
        </p:txBody>
      </p:sp>
      <p:pic>
        <p:nvPicPr>
          <p:cNvPr id="16" name="Picture 15" descr="arms_nks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5224" y="2775204"/>
            <a:ext cx="1572768" cy="10008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35224" y="3794344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NKSR*</a:t>
            </a:r>
          </a:p>
        </p:txBody>
      </p:sp>
      <p:pic>
        <p:nvPicPr>
          <p:cNvPr id="18" name="Picture 17" descr="arms_s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7" y="2775204"/>
            <a:ext cx="1572768" cy="10008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36007" y="3794344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SAP*</a:t>
            </a:r>
          </a:p>
        </p:txBody>
      </p:sp>
      <p:pic>
        <p:nvPicPr>
          <p:cNvPr id="20" name="Picture 19" descr="arms_twodg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792" y="2775204"/>
            <a:ext cx="1572768" cy="10008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36792" y="3794344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2DGS*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81728"/>
            <a:ext cx="7863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Shaded geometry of the best VGGSfM run per method, same crop for all. Red: triangles seen from the back.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Close-up: feet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pic>
        <p:nvPicPr>
          <p:cNvPr id="4" name="Picture 3" descr="feet_poi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52293"/>
            <a:ext cx="1572768" cy="820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Input points</a:t>
            </a:r>
          </a:p>
        </p:txBody>
      </p:sp>
      <p:pic>
        <p:nvPicPr>
          <p:cNvPr id="6" name="Picture 5" descr="feet_poiss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1" y="1552293"/>
            <a:ext cx="1572768" cy="820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84831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Poisson (ours)</a:t>
            </a:r>
          </a:p>
        </p:txBody>
      </p:sp>
      <p:pic>
        <p:nvPicPr>
          <p:cNvPr id="8" name="Picture 7" descr="feet_i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5" y="1552293"/>
            <a:ext cx="1572768" cy="820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85615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IER</a:t>
            </a:r>
          </a:p>
        </p:txBody>
      </p:sp>
      <p:pic>
        <p:nvPicPr>
          <p:cNvPr id="10" name="Picture 9" descr="feet_point2mes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52293"/>
            <a:ext cx="1572768" cy="8205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Point2Mesh</a:t>
            </a:r>
          </a:p>
        </p:txBody>
      </p:sp>
      <p:pic>
        <p:nvPicPr>
          <p:cNvPr id="12" name="Picture 11" descr="feet_meshanyth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3" y="1552293"/>
            <a:ext cx="1572768" cy="8205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87183" y="239115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MeshAnything V2</a:t>
            </a:r>
          </a:p>
        </p:txBody>
      </p:sp>
      <p:pic>
        <p:nvPicPr>
          <p:cNvPr id="14" name="Picture 13" descr="feet_dhs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39" y="2775204"/>
            <a:ext cx="1572768" cy="82057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4439" y="361406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DHSP</a:t>
            </a:r>
          </a:p>
        </p:txBody>
      </p:sp>
      <p:pic>
        <p:nvPicPr>
          <p:cNvPr id="16" name="Picture 15" descr="feet_nks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5224" y="2775204"/>
            <a:ext cx="1572768" cy="8205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35224" y="361406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NKSR*</a:t>
            </a:r>
          </a:p>
        </p:txBody>
      </p:sp>
      <p:pic>
        <p:nvPicPr>
          <p:cNvPr id="18" name="Picture 17" descr="feet_sa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6007" y="2775204"/>
            <a:ext cx="1572768" cy="8205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36007" y="361406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SAP*</a:t>
            </a:r>
          </a:p>
        </p:txBody>
      </p:sp>
      <p:pic>
        <p:nvPicPr>
          <p:cNvPr id="20" name="Picture 19" descr="feet_twodg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792" y="2775204"/>
            <a:ext cx="1572768" cy="8205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36792" y="3614066"/>
            <a:ext cx="1572768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Arial"/>
              </a:rPr>
              <a:t>2DGS*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81728"/>
            <a:ext cx="7863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Shaded geometry of the best VGGSfM run per method, same crop for all. Red: triangles seen from the 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Results (MVS)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pic>
        <p:nvPicPr>
          <p:cNvPr id="4" name="Picture 3" descr="fig_grid_mv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18" y="914400"/>
            <a:ext cx="729576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Results (MVS-clean)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pic>
        <p:nvPicPr>
          <p:cNvPr id="4" name="Picture 3" descr="fig_grid_mvs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64" y="914400"/>
            <a:ext cx="6490871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Poisson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  <p:pic>
        <p:nvPicPr>
          <p:cNvPr id="4" name="Picture 3" descr="fig_poisso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885808"/>
            <a:ext cx="4892040" cy="23548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473" y="1428608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256³, no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473" y="1638920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Chamfer 0.230%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3080" y="1428608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256³, screened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3080" y="1638920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Chamfer 0.179%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9502" y="1428608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384³, screened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502" y="1638920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Chamfer 0.149%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5925" y="1428608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384³, not trimmed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5925" y="1638920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Chamfer 0.154%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49240" y="1463040"/>
          <a:ext cx="338328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00200"/>
                <a:gridCol w="640080"/>
                <a:gridCol w="640080"/>
                <a:gridCol w="50292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256³, no screening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265k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14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256³, screened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358k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17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384³, screened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1.02M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39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384³, not trimmed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1.05M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25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429000"/>
            <a:ext cx="34290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Screened: surface pulled onto the points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No screening: follows point directions only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Trimmed: parts far from points are cut 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MeshAnything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18</a:t>
            </a:r>
          </a:p>
        </p:txBody>
      </p:sp>
      <p:pic>
        <p:nvPicPr>
          <p:cNvPr id="4" name="Picture 3" descr="fig_meshanything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68" y="1417320"/>
            <a:ext cx="3111319" cy="32918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875" y="960120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raw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875" y="1170432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F@1% 0.508 · 1,802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6916" y="960120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Poisson mesh as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6916" y="1170432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F@1% 0.987 · 1,435 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24528" y="1188720"/>
          <a:ext cx="4562856" cy="2560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676656"/>
                <a:gridCol w="868680"/>
                <a:gridCol w="621792"/>
                <a:gridCol w="658368"/>
                <a:gridCol w="5486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Decoding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raw points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624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92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raw points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sampling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1,802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77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raw points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0.442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59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Poisson mesh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0.929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51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Poisson mesh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sampling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2,058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0.965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95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Poisson mesh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greedy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1,435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0.987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77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Point2Mesh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19</a:t>
            </a:r>
          </a:p>
        </p:txBody>
      </p:sp>
      <p:pic>
        <p:nvPicPr>
          <p:cNvPr id="4" name="Picture 3" descr="fig_point2mesh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73699"/>
            <a:ext cx="4526280" cy="297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34" y="1116499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paper defaults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34" y="1326811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F@1% 0.646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043" y="1116499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unoriented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043" y="1326811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F@1% 0.844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8625" y="1116499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MVS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8625" y="1326811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F@1% 0.133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2332" y="1116499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MVS-clean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2332" y="1326811"/>
            <a:ext cx="164592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F@1% 0.387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74920" y="1188720"/>
          <a:ext cx="3566160" cy="25603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594360"/>
                <a:gridCol w="640080"/>
                <a:gridCol w="777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first try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16k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0.602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21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paper defaults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0.646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44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+ unoriented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0.844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42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+ unoriented, 20k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0.655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3.4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0.133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40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MVS-clean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10k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0.387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39 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DHSP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20</a:t>
            </a:r>
          </a:p>
        </p:txBody>
      </p:sp>
      <p:pic>
        <p:nvPicPr>
          <p:cNvPr id="4" name="Picture 3" descr="fig_dhs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8" y="1005840"/>
            <a:ext cx="4225158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1280160"/>
          <a:ext cx="397764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640080"/>
                <a:gridCol w="640080"/>
                <a:gridCol w="502920"/>
                <a:gridCol w="5486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NC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3D prior only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16k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1.8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full pipeline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0.874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4.1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full, extra smoothing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2.2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MVS, full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4.0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MVS-clean, full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0.72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5.9 h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54880" y="3611880"/>
            <a:ext cx="39319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Full pipeline time = 3D stage + 2D stage.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IER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21</a:t>
            </a:r>
          </a:p>
        </p:txBody>
      </p:sp>
      <p:pic>
        <p:nvPicPr>
          <p:cNvPr id="4" name="Picture 3" descr="ier_text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05840"/>
            <a:ext cx="2674620" cy="3566160"/>
          </a:xfrm>
          <a:prstGeom prst="rect">
            <a:avLst/>
          </a:prstGeom>
        </p:spPr>
      </p:pic>
      <p:pic>
        <p:nvPicPr>
          <p:cNvPr id="5" name="Picture 4" descr="ier_sha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005840"/>
            <a:ext cx="267462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09360" y="566928"/>
            <a:ext cx="182880" cy="182880"/>
          </a:xfrm>
          <a:prstGeom prst="rect">
            <a:avLst/>
          </a:prstGeom>
          <a:solidFill>
            <a:srgbClr val="D9EAD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best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566928"/>
            <a:ext cx="182880" cy="182880"/>
          </a:xfrm>
          <a:prstGeom prst="rect">
            <a:avLst/>
          </a:prstGeom>
          <a:solidFill>
            <a:srgbClr val="CFE2F3"/>
          </a:solidFill>
          <a:ln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5029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second best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371600"/>
          <a:ext cx="301752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43000"/>
                <a:gridCol w="685800"/>
                <a:gridCol w="640080"/>
                <a:gridCol w="5486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Faces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F@1%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Time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VGGSfM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17.5k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0.998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29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16.4k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42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CFE2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MVS-clean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16.7k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50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C5CC"/>
                      </a:solidFill>
                      <a:prstDash val="solid"/>
                    </a:lnL>
                    <a:lnR w="9525" cap="flat" cmpd="sng" algn="ctr">
                      <a:solidFill>
                        <a:srgbClr val="BFC5CC"/>
                      </a:solidFill>
                      <a:prstDash val="solid"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solidFill>
                        <a:srgbClr val="BFC5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NKSR, SAP and 2DGS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22</a:t>
            </a:r>
          </a:p>
        </p:txBody>
      </p:sp>
      <p:pic>
        <p:nvPicPr>
          <p:cNvPr id="4" name="Picture 3" descr="fig_ext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99" y="914400"/>
            <a:ext cx="8165201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52628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NKSR: 2.09M faces in 7 s    SAP: 64k faces in 8 min    2DGS: 657k faces in 47 min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841248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595959"/>
                </a:solidFill>
                <a:latin typeface="Arial"/>
              </a:rPr>
              <a:t>1.  Our own Poisson ties the best learned methods on VGGSfM (F@1% 0.999).</a:t>
            </a:r>
          </a:p>
          <a:p>
            <a:pPr algn="l"/>
            <a:r>
              <a:rPr sz="1700" b="0">
                <a:solidFill>
                  <a:srgbClr val="595959"/>
                </a:solidFill>
                <a:latin typeface="Arial"/>
              </a:rPr>
              <a:t>2.  NKSR is best on the dense MVS clouds (Chamfer 0.08%).</a:t>
            </a:r>
          </a:p>
          <a:p>
            <a:pPr algn="l"/>
            <a:r>
              <a:rPr sz="1700" b="0">
                <a:solidFill>
                  <a:srgbClr val="595959"/>
                </a:solidFill>
                <a:latin typeface="Arial"/>
              </a:rPr>
              <a:t>3.  A high score can hide a crumpled surface (DHSP 3D prior: F@1% 0.999, NC 0.65).</a:t>
            </a:r>
          </a:p>
          <a:p>
            <a:pPr algn="l"/>
            <a:r>
              <a:rPr sz="1700" b="0">
                <a:solidFill>
                  <a:srgbClr val="595959"/>
                </a:solidFill>
                <a:latin typeface="Arial"/>
              </a:rPr>
              <a:t>4.  The input matters: MeshAnything 0.51 → 0.987 with a mesh input;</a:t>
            </a:r>
          </a:p>
          <a:p>
            <a:pPr algn="l"/>
            <a:r>
              <a:rPr sz="1700" b="0">
                <a:solidFill>
                  <a:srgbClr val="595959"/>
                </a:solidFill>
                <a:latin typeface="Arial"/>
              </a:rPr>
              <a:t>      Point2Mesh 0.13 → 0.39 after removing MVS floaters.</a:t>
            </a:r>
          </a:p>
          <a:p>
            <a:pPr algn="l"/>
            <a:r>
              <a:rPr sz="1700" b="0">
                <a:solidFill>
                  <a:srgbClr val="595959"/>
                </a:solidFill>
                <a:latin typeface="Arial"/>
              </a:rPr>
              <a:t>5.  Four methods give closed (watertight) meshes.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011680"/>
            <a:ext cx="85953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Arial"/>
              </a:rPr>
              <a:t>Let’s go through the videos!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143000"/>
            <a:ext cx="822960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595959"/>
                </a:solidFill>
                <a:latin typeface="Arial"/>
              </a:rPr>
              <a:t>The next seven videos took a lot of effort to make.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Arial"/>
              </a:rPr>
              <a:t>Every scene was planned, animated and checked against our own runs, so every number in them is a real result.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Arial"/>
              </a:rPr>
              <a:t>They explain each method step by step, which is why the slides before them skip formulas and methodology.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1: Screened Poisson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26</a:t>
            </a:r>
          </a:p>
        </p:txBody>
      </p:sp>
      <p:pic>
        <p:nvPicPr>
          <p:cNvPr id="4" name="Picture 3" descr="v1_poisson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20" y="914400"/>
            <a:ext cx="666495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709159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3 min 9 s  ·  12 scenes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2: The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27</a:t>
            </a:r>
          </a:p>
        </p:txBody>
      </p:sp>
      <p:pic>
        <p:nvPicPr>
          <p:cNvPr id="4" name="Picture 3" descr="v2_metrics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20" y="914400"/>
            <a:ext cx="666495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709159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3 min 48 s  ·  14 scenes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3: IER meshing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28</a:t>
            </a:r>
          </a:p>
        </p:txBody>
      </p:sp>
      <p:pic>
        <p:nvPicPr>
          <p:cNvPr id="4" name="Picture 3" descr="v3_ier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64" y="1325880"/>
            <a:ext cx="4112767" cy="2313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064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1  ·  2 min 23 s  ·  8 scenes</a:t>
            </a:r>
          </a:p>
        </p:txBody>
      </p:sp>
      <p:pic>
        <p:nvPicPr>
          <p:cNvPr id="6" name="Picture 5" descr="v3_ier_p2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68" y="1325880"/>
            <a:ext cx="4112767" cy="2313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6168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2  ·  2 min 28 s  ·  7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60520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4 min 51 s in total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4: MeshAnything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29</a:t>
            </a:r>
          </a:p>
        </p:txBody>
      </p:sp>
      <p:pic>
        <p:nvPicPr>
          <p:cNvPr id="4" name="Picture 3" descr="v4_ma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64" y="1325880"/>
            <a:ext cx="4112767" cy="2313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064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1  ·  3 min 22 s  ·  10 scenes</a:t>
            </a:r>
          </a:p>
        </p:txBody>
      </p:sp>
      <p:pic>
        <p:nvPicPr>
          <p:cNvPr id="6" name="Picture 5" descr="v4_ma_p2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68" y="1325880"/>
            <a:ext cx="4112767" cy="2313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6168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2  ·  3 min 2 s  ·  8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60520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6 min 24 s in total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5: Point2Mesh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30</a:t>
            </a:r>
          </a:p>
        </p:txBody>
      </p:sp>
      <p:pic>
        <p:nvPicPr>
          <p:cNvPr id="4" name="Picture 3" descr="v5_p2m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64" y="1325880"/>
            <a:ext cx="4112767" cy="2313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064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1  ·  3 min 8 s  ·  9 scenes</a:t>
            </a:r>
          </a:p>
        </p:txBody>
      </p:sp>
      <p:pic>
        <p:nvPicPr>
          <p:cNvPr id="6" name="Picture 5" descr="v5_p2m_p2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68" y="1325880"/>
            <a:ext cx="4112767" cy="2313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6168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2  ·  2 min 26 s  ·  7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60520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5 min 34 s in total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6: Deep Hybrid Self-Prior (DHSP)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31</a:t>
            </a:r>
          </a:p>
        </p:txBody>
      </p:sp>
      <p:pic>
        <p:nvPicPr>
          <p:cNvPr id="4" name="Picture 3" descr="v6_dhsp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64" y="1325880"/>
            <a:ext cx="4112767" cy="2313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064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1  ·  2 min 52 s  ·  8 scenes</a:t>
            </a:r>
          </a:p>
        </p:txBody>
      </p:sp>
      <p:pic>
        <p:nvPicPr>
          <p:cNvPr id="6" name="Picture 5" descr="v6_dhsp_p2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68" y="1325880"/>
            <a:ext cx="4112767" cy="2313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6168" y="3712463"/>
            <a:ext cx="4112767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Part 2  ·  2 min 54 s  ·  8 scenes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4160520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5 min 46 s in total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Video 7: NKSR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32</a:t>
            </a:r>
          </a:p>
        </p:txBody>
      </p:sp>
      <p:pic>
        <p:nvPicPr>
          <p:cNvPr id="4" name="Picture 3" descr="v7_nksr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20" y="914400"/>
            <a:ext cx="666495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4709159"/>
            <a:ext cx="8375904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4 min 6 s  ·  12 scenes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74320"/>
            <a:ext cx="84124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Arial"/>
              </a:rPr>
              <a:t>Extras: stills from the videos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4773168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Arial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05840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Arial"/>
              </a:rPr>
              <a:t>One still per scene, in order, from the seven videos.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1_poisson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2_metrics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1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2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2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2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3_ier_p2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1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4_ma_p2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1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5_p2m_p2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1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6_dhsp_p2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7_nksr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