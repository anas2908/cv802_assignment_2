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Hello, I am Anas. Sub-project 2 takes the coloured point cloud from Sub-project 1 and turns it into a textured mesh. The strip at the bottom is the whole story: the input points on the left, then the best mesh of each of the eight methods, each shown textured and as plain shaded geometry. In the next minutes: the task, our pipeline, the methods and what we had to change to make them work on a real scan, results on three inputs, the viewer and 3D printing.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brief from the Week-5 lab slides: the input is the coloured point cloud from Sub-project 1 (slide 5), the output is</a:t>
            </a:r>
          </a:p>
          <a:p>
            <a:r>
              <a:t>a textured 3D mesh in .obj format, with a bonus for a mesh viewer (slide 6). Slide 7 lists five example methods plus</a:t>
            </a:r>
          </a:p>
          <a:p>
            <a:r>
              <a:t>'your own novel methods'. We implemented all five: Poisson from scratch because the slide says do not use the API,</a:t>
            </a:r>
          </a:p>
          <a:p>
            <a:r>
              <a:t>then IER, Point2Mesh, MeshAnything and DHSP using the official code. As the slide notes, the first four give shape</a:t>
            </a:r>
          </a:p>
          <a:p>
            <a:r>
              <a:t>only, so texture is our job: we built a photo-projection texturer. We also added three recent methods, NKSR, Shape As</a:t>
            </a:r>
          </a:p>
          <a:p>
            <a:r>
              <a:t>Points and 2D Gaussian Splatting, and we deliver the viewer and printable meshes.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use the light-shirt capture in three versions. The main input is VGGSfM: 139 thousand points, already cleaned in</a:t>
            </a:r>
          </a:p>
          <a:p>
            <a:r>
              <a:t>Sub-project 1 by projecting the points into the person masks. The second is the COLMAP MVS cloud: 3.5 times denser,</a:t>
            </a:r>
          </a:p>
          <a:p>
            <a:r>
              <a:t>with normals from PatchMatch, but with silhouette streaks and floating outliers, you can see the spray around the</a:t>
            </a:r>
          </a:p>
          <a:p>
            <a:r>
              <a:t>legs and head. The third is the same MVS cloud with 404 floating points removed by our cleanup script, which keeps</a:t>
            </a:r>
          </a:p>
          <a:p>
            <a:r>
              <a:t>the legs intact. Same pipeline and metrics for all three, so differences come from the input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system. Every method gets the same input and writes one file, geometry.ply. A shared finalizer then does</a:t>
            </a:r>
          </a:p>
          <a:p>
            <a:r>
              <a:t>everything else identically for all methods: cleans the mesh, builds a UV atlas with xatlas, textures it, computes</a:t>
            </a:r>
          </a:p>
          <a:p>
            <a:r>
              <a:t>the metrics against the input cloud, renders the same camera views, and writes a manifest. Because of that the</a:t>
            </a:r>
          </a:p>
          <a:p>
            <a:r>
              <a:t>comparison is fair. Shape-only methods are re-textured from the photos by our photo-projection step. The manifest is</a:t>
            </a:r>
          </a:p>
          <a:p>
            <a:r>
              <a:t>what the viewer reads, the 3D-print export makes STL files, and packaging zips viewer-sized copies for GitHub.</a:t>
            </a:r>
          </a:p>
          <a:p>
            <a:r>
              <a:t>Everything ran on one RTX 5000 Ada with 32 GB through Slurm, as a restartable job queue in tmux; in total about 110</a:t>
            </a:r>
          </a:p>
          <a:p>
            <a:r>
              <a:t>finished runs over three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Poisson reconstruction looks for an indicator function chi that is 1 inside the person and 0 outside. Its gradient</a:t>
            </a:r>
          </a:p>
          <a:p>
            <a:r>
              <a:t>should equal the oriented normal field, so we splat the inward normals into a vector field V and take the divergence:</a:t>
            </a:r>
          </a:p>
          <a:p>
            <a:r>
              <a:t>that gives a Poisson equation, minus Laplacian chi equals minus divergence of V. The screened version from 2013 adds a</a:t>
            </a:r>
          </a:p>
          <a:p>
            <a:r>
              <a:t>term that pins chi to the iso-value at the sample points, which keeps fine detail and stops over-smoothing.</a:t>
            </a:r>
          </a:p>
          <a:p>
            <a:r>
              <a:t>Step one, normals: PCA on 24 neighbours gives a direction but not a sign; we fix the signs by walking a minimum</a:t>
            </a:r>
          </a:p>
          <a:p>
            <a:r>
              <a:t>spanning tree over the neighbour graph with edge cost one minus the absolute dot product, so flips propagate along</a:t>
            </a:r>
          </a:p>
          <a:p>
            <a:r>
              <a:t>smooth surfaces first, then flip each component outward using a local centroid vote. Step two, splat. Step three,</a:t>
            </a:r>
          </a:p>
          <a:p>
            <a:r>
              <a:t>solve the sparse system with Jacobi-preconditioned conjugate gradients on the GPU, coarse to fine on 96, 192, 384 cube</a:t>
            </a:r>
          </a:p>
          <a:p>
            <a:r>
              <a:t>grids, each level warm-starting the next. Step four, the iso-value is the weighted mean of chi at the samples and we</a:t>
            </a:r>
          </a:p>
          <a:p>
            <a:r>
              <a:t>extract the surface with our own marching tetrahedra, which is crack-free. Finally we trim faces more than two voxels</a:t>
            </a:r>
          </a:p>
          <a:p>
            <a:r>
              <a:t>from any sample, because Poisson always closes the surface. Result: 1.02M faces in 39</a:t>
            </a:r>
          </a:p>
          <a:p>
            <a:r>
              <a:t>seconds, Chamfer 0.149 percent of the diagonal, F-score 0.999. We verified the solver on a sphere.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Poisson variants. Classic Poisson without screening, alpha zero, is the smoothest: highest normal consistency but</a:t>
            </a:r>
          </a:p>
          <a:p>
            <a:r>
              <a:t>it loses detail and drifts off the points, F at half a percent 0.931. Adding screening at the same 256 grid</a:t>
            </a:r>
          </a:p>
          <a:p>
            <a:r>
              <a:t>pulls the surface onto the samples, 0.970. Going to 384 cubed adds detail and is our best, 0.988.</a:t>
            </a:r>
          </a:p>
          <a:p>
            <a:r>
              <a:t>The watertight variant skips trimming: almost the same accuracy, and it is closed, so it can be 3D printed. The</a:t>
            </a:r>
          </a:p>
          <a:p>
            <a:r>
              <a:t>trade-off you see: more detail also reproduces the noise of the SfM points, the bumpy texture on the legs.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IER, ECCV 2020: it proposes candidate triangles from k nearest neighbours and a pretrained network classifies each by</a:t>
            </a:r>
          </a:p>
          <a:p>
            <a:r>
              <a:t>the intrinsic-extrinsic ratio, geodesic over Euclidean distance between the vertices. Near one means the triangle lies</a:t>
            </a:r>
          </a:p>
          <a:p>
            <a:r>
              <a:t>on the surface, large means it jumps across a gap, for example between the arm and the chest. A greedy step keeps a</a:t>
            </a:r>
          </a:p>
          <a:p>
            <a:r>
              <a:t>manifold set. It was trained on 12 to 13 thousand points per shape, so we farthest-point sample 12,500 points: F</a:t>
            </a:r>
          </a:p>
          <a:p>
            <a:r>
              <a:t>0.998. Its red faces in the renders show the triangles are not consistently oriented, which is why our photo</a:t>
            </a:r>
          </a:p>
          <a:p>
            <a:r>
              <a:t>texturing uses a two-sided mode for it.</a:t>
            </a:r>
          </a:p>
          <a:p>
            <a:r>
              <a:t>MeshAnything is an autoregressive transformer that writes an artist-style low-poly mesh face by face. On our raw points</a:t>
            </a:r>
          </a:p>
          <a:p>
            <a:r>
              <a:t>it failed, F 0.11 greedy and at best 0.51 with sampling, because it was trained on points</a:t>
            </a:r>
          </a:p>
          <a:p>
            <a:r>
              <a:t>sampled from clean meshes. The authors recommend passing a dense mesh through their marching-cubes path; we fed our own</a:t>
            </a:r>
          </a:p>
          <a:p>
            <a:r>
              <a:t>watertight Poisson mesh and got 0.987 with only 1435 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Point2Mesh needs no training data. Start from the convex hull of the points, simplified by Manifold to 2,000 faces. A</a:t>
            </a:r>
          </a:p>
          <a:p>
            <a:r>
              <a:t>MeshCNN with random weights predicts vertex displacements and is optimised for one shape only, with a Chamfer loss to</a:t>
            </a:r>
          </a:p>
          <a:p>
            <a:r>
              <a:t>the points plus a normal term; the network's own bias towards smooth, self-similar displacements is the 'self-prior'.</a:t>
            </a:r>
          </a:p>
          <a:p>
            <a:r>
              <a:t>Every so often the mesh is subdivided and re-made manifold, so it shrink-wraps the person. With paper defaults the</a:t>
            </a:r>
          </a:p>
          <a:p>
            <a:r>
              <a:t>normal term pulled the surface the wrong way where our normals point inward, F 0.646. The paper's</a:t>
            </a:r>
          </a:p>
          <a:p>
            <a:r>
              <a:t>unoriented option, which only compares directions up to sign, fixed that: 0.844. It is watertight by</a:t>
            </a:r>
          </a:p>
          <a:p>
            <a:r>
              <a:t>construction, so printable, but smooth and low detail. On the raw MVS cloud the floating outliers pull membranes</a:t>
            </a:r>
          </a:p>
          <a:p>
            <a:r>
              <a:t>out of the body; after removing them it partly recovers. The red faces mark folded triangles.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DHSP extends Point2Mesh with 2D priors. Its README pipeline: a 3D self-prior mesh, then flatten it to a UV map with</a:t>
            </a:r>
          </a:p>
          <a:p>
            <a:r>
              <a:t>OptCuts, project the geometry into a 2D 'geometry image' and complete it with a deep image prior, project back, refine</a:t>
            </a:r>
          </a:p>
          <a:p>
            <a:r>
              <a:t>in 3D again, and finally complete a colour texture with a second 2D image prior. So it is the only listed method that</a:t>
            </a:r>
          </a:p>
          <a:p>
            <a:r>
              <a:t>predicts colour itself.</a:t>
            </a:r>
          </a:p>
          <a:p>
            <a:r>
              <a:t>The problem: the 3D prior alone already scores F 0.999, but it is crumpled, about half the neighbouring faces</a:t>
            </a:r>
          </a:p>
          <a:p>
            <a:r>
              <a:t>fold, normal consistency 0.65. OptCuts never converged on that surface, we stopped it after 15 hours, and with</a:t>
            </a:r>
          </a:p>
          <a:p>
            <a:r>
              <a:t>xatlas instead the 2D priors produced seam artifacts. Our fix: re-mesh the prior first, Manifold plus simplification to</a:t>
            </a:r>
          </a:p>
          <a:p>
            <a:r>
              <a:t>3,000 faces, before OptCuts, and 6,000 for the refined mesh. Then OptCuts converges in seconds and the complete</a:t>
            </a:r>
          </a:p>
          <a:p>
            <a:r>
              <a:t>pipeline runs. The final mesh is clean, normal consistency 0.89, watertight, with DHSP's own colour; it loses</a:t>
            </a:r>
          </a:p>
          <a:p>
            <a:r>
              <a:t>some F-score, 0.901, because it is coarser. On the MVS inputs the refined surface has genus 2, because the arms touch the body, so OptCuts cannot cut it into a disk for the final texture atlas; there we fall back to xatlas on the same clean re-meshed surface. And honestly, on MVS the full pipeline is not better than its 3D prior: the 2D geometry prior turns MVS outliers into fins.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recent methods. NKSR, CVPR 2023, from NVIDIA: a pretrained neural kernel field built for noisy real scans. It is</a:t>
            </a:r>
          </a:p>
          <a:p>
            <a:r>
              <a:t>the most accurate on the dense MVS clouds and runs in seconds, but its mesh is open and has non-manifold edges, so it is</a:t>
            </a:r>
          </a:p>
          <a:p>
            <a:r>
              <a:t>not printable. Shape As Points, NeurIPS 2021, makes Poisson differentiable: it optimises the oriented points</a:t>
            </a:r>
          </a:p>
          <a:p>
            <a:r>
              <a:t>themselves through a spectral Poisson solver, coarse to fine; the result is watertight and smooth, our cleanest</a:t>
            </a:r>
          </a:p>
          <a:p>
            <a:r>
              <a:t>printable mesh. 2D Gaussian Splatting, SIGGRAPH 2024, is different: it uses the photos, not only the points. Flat</a:t>
            </a:r>
          </a:p>
          <a:p>
            <a:r>
              <a:t>Gaussian discs are optimised to re-render the masked photos, initialised from our point cloud, and the mesh comes from</a:t>
            </a:r>
          </a:p>
          <a:p>
            <a:r>
              <a:t>fusing the rendered depth maps. It gives the sharpest look, F 0.972, but it is open at the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slides say the first four methods give shape only and we must get texture ourselves. The simple baseline colours</a:t>
            </a:r>
          </a:p>
          <a:p>
            <a:r>
              <a:t>each texel from the nearest input points: blurry, because the points are sparse and noisy. Our method projects the</a:t>
            </a:r>
          </a:p>
          <a:p>
            <a:r>
              <a:t>original photos instead. Every texel of the UV atlas is rasterised to a 3D point with a normal. We project it into</a:t>
            </a:r>
          </a:p>
          <a:p>
            <a:r>
              <a:t>every camera from Sub-project 1, and keep the view only if the point is in front, inside the image, inside the person</a:t>
            </a:r>
          </a:p>
          <a:p>
            <a:r>
              <a:t>mask, facing the camera, and visible in a z-buffer of the mesh, so occluded surfaces such as the chest behind the</a:t>
            </a:r>
          </a:p>
          <a:p>
            <a:r>
              <a:t>crossed arms do not get arm colours. The visible views are blended with weights that favour frontal and close views,</a:t>
            </a:r>
          </a:p>
          <a:p>
            <a:r>
              <a:t>cos to the fourth times d over z squared, raised to the eighth power so the best view dominates and the result stays</a:t>
            </a:r>
          </a:p>
          <a:p>
            <a:r>
              <a:t>sharp. A per-photo gain balances exposure. Texels no photo sees keep the point colour. The lettering on the shirt</a:t>
            </a:r>
          </a:p>
          <a:p>
            <a:r>
              <a:t>becomes readable. Note PSNR at the points goes down slightly, because the reference is the blurry point colours.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main table. Chamfer distance in percent of the bounding-box diagonal, lower is better; F-score at one percent of the</a:t>
            </a:r>
          </a:p>
          <a:p>
            <a:r>
              <a:t>diagonal, higher is better; normal consistency; watertight. On the VGGSfM input our Poisson has the best Chamfer and</a:t>
            </a:r>
          </a:p>
          <a:p>
            <a:r>
              <a:t>F-score, tied with IER, NKSR and SAP at about 0.998 to 0.999. On the dense MVS clouds NKSR is best with Chamfer 0.08</a:t>
            </a:r>
          </a:p>
          <a:p>
            <a:r>
              <a:t>percent. Low-poly methods, MeshAnything and DHSP, lose some F-score by construction because a 1,400 or 6,000 face</a:t>
            </a:r>
          </a:p>
          <a:p>
            <a:r>
              <a:t>mesh cannot follow every point. Point2Mesh is the weakest and fails on raw MVS. Red cells are still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meshes as pictures, because the numbers hide a lot. Look at the shaded row. Poisson and NKSR follow every</a:t>
            </a:r>
          </a:p>
          <a:p>
            <a:r>
              <a:t>bump of the noisy points. IER has red triangles everywhere: they are flipped. Point2Mesh is smooth but has folded</a:t>
            </a:r>
          </a:p>
          <a:p>
            <a:r>
              <a:t>regions. MeshAnything is an artist-style low-poly mesh. DHSP after our fix is clean and closed. SAP is the smoothest</a:t>
            </a:r>
          </a:p>
          <a:p>
            <a:r>
              <a:t>closed surface. 2DGS has the most recognisable face and the cleanest shirt edges because it uses the photos.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MVS cloud is 3.5 times denser, so methods that follow the points closely, NKSR, Poisson, IER, get even lower</a:t>
            </a:r>
          </a:p>
          <a:p>
            <a:r>
              <a:t>Chamfer. But MVS has holes where PatchMatch found no consistent depth, the dark trousers, and those methods keep the</a:t>
            </a:r>
          </a:p>
          <a:p>
            <a:r>
              <a:t>holes. Watertight methods, SAP, Point2Mesh, close them but SAP grows blobs around the head from remaining outliers.</a:t>
            </a:r>
          </a:p>
          <a:p>
            <a:r>
              <a:t>Removing the 404 floaters mainly helps Point2Mesh, which shrink-wraps everything it sees.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bonus. A small web app, no dependencies beyond the Python standard library and a vendored three.js. The dashboard</a:t>
            </a:r>
          </a:p>
          <a:p>
            <a:r>
              <a:t>starts any method on the GPU allocation and shows progress, logs and live GPU use. The viewer shows any run textured,</a:t>
            </a:r>
          </a:p>
          <a:p>
            <a:r>
              <a:t>shaded, as wireframe, with the input points overlaid, and two runs side by side with synchronised cameras. The compare</a:t>
            </a:r>
          </a:p>
          <a:p>
            <a:r>
              <a:t>page ranks all runs by the metrics. For GitHub we package viewer-sized copies, so anyone can clone the repository and</a:t>
            </a:r>
          </a:p>
          <a:p>
            <a:r>
              <a:t>run one command, bash run_viewer.sh, on a CPU, without retraining.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wanted a physical print. The export script keeps the largest component, orients normals outward, puts the figure</a:t>
            </a:r>
          </a:p>
          <a:p>
            <a:r>
              <a:t>upright with the feet on the build plate, scales it to 180 millimetres and checks watertightness, winding, volume and</a:t>
            </a:r>
          </a:p>
          <a:p>
            <a:r>
              <a:t>non-manifold edges. It writes an STL for single-colour printers and a textured OBJ for colour printers. Our Poisson</a:t>
            </a:r>
          </a:p>
          <a:p>
            <a:r>
              <a:t>watertight variant, SAP, DHSP and Point2Mesh pass; NKSR and 2DGS are open surfaces and fail. Self-intersections are not</a:t>
            </a:r>
          </a:p>
          <a:p>
            <a:r>
              <a:t>checked, so a slicer repair pass is still advisable, and the crossed arms need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lessons. One: a carefully implemented classical method is competitive; our Poisson matches pretrained networks on</a:t>
            </a:r>
          </a:p>
          <a:p>
            <a:r>
              <a:t>this data. Two: point-based metrics are not enough; DHSP's crumpled prior had the best-looking numbers. Always check</a:t>
            </a:r>
          </a:p>
          <a:p>
            <a:r>
              <a:t>normal consistency and shaded renders. Three: learned methods are tied to their training domain: point density for</a:t>
            </a:r>
          </a:p>
          <a:p>
            <a:r>
              <a:t>IER, mesh-like input for MeshAnything, metric scale for NKSR. Four: self-prior methods are fragile on real scans:</a:t>
            </a:r>
          </a:p>
          <a:p>
            <a:r>
              <a:t>normal orientation and outliers decide whether Point2Mesh works, and DHSP needed a re-meshing step. Five: texture</a:t>
            </a:r>
          </a:p>
          <a:p>
            <a:r>
              <a:t>quality comes from the photos, not from the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GitHub: the training and run code for every method, the shared finalizer and texturing, the viewer,</a:t>
            </a:r>
          </a:p>
          <a:p>
            <a:r>
              <a:t>the input clouds and the packaged meshes. The photos and model weights are not in the repository; setup scripts</a:t>
            </a:r>
          </a:p>
          <a:p>
            <a:r>
              <a:t>download the official code and weights. The one-page report and these slides are generated from the same results</a:t>
            </a:r>
          </a:p>
          <a:p>
            <a:r>
              <a:t>file, so the numbers are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Fill in the names and roles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Chamfer: average of the two one-sided mean distances, accuracy (mesh to points) and completeness (points to mesh),</a:t>
            </a:r>
          </a:p>
          <a:p>
            <a:r>
              <a:t>reported in percent of the bounding-box diagonal so the three inputs are comparable. F-score at threshold tau:</a:t>
            </a:r>
          </a:p>
          <a:p>
            <a:r>
              <a:t>precision is the fraction of mesh samples within tau of a point, recall the fraction of points within tau of the mesh.</a:t>
            </a:r>
          </a:p>
          <a:p>
            <a:r>
              <a:t>Normal consistency compares face normals with the input normals at the nearest point, absolute value so orientation</a:t>
            </a:r>
          </a:p>
          <a:p>
            <a:r>
              <a:t>does not matter. Texture PSNR samples the texture at the closest surface point of each input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Runtimes of the best runs. Poisson, NKSR, IER and MeshAnything take seconds to a minute. Point2Mesh, DHSP and 2DGS</a:t>
            </a:r>
          </a:p>
          <a:p>
            <a:r>
              <a:t>are per-shape optimisations and take tens of minutes to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things live, in case of questions about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jpg"/><Relationship Id="rId4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2697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strip_vggsf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244362"/>
            <a:ext cx="11640312" cy="25206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77240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8FD9BC"/>
                </a:solidFill>
                <a:latin typeface="Arial"/>
              </a:rPr>
              <a:t>CV802 ADVANCED 3D COMPUTER VISION · SUB-PROJECT 2: SURFACE EXTRACTION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8992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From Coloured Points to Printable Textured Meshes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89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>
                <a:solidFill>
                  <a:srgbClr val="D5DCE6"/>
                </a:solidFill>
                <a:latin typeface="Arial"/>
              </a:rPr>
              <a:t>Eight surface-reconstruction methods, one shared pipeline, our own screened Poisson and photo texturing, and a mesh viewer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107899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Anas Khan  ·  MBZUAI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The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786384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Week-5 brief (slides 5-7): 3D points with colour  -&gt;  textured mesh (.obj), bonus for a mesh viewer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pic>
        <p:nvPicPr>
          <p:cNvPr id="9" name="Picture 8" descr="input_vggsfm_fr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09800"/>
            <a:ext cx="2377440" cy="3169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88920" y="3291840"/>
            <a:ext cx="5486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000" b="1">
                <a:solidFill>
                  <a:srgbClr val="1E7B5C"/>
                </a:solidFill>
                <a:latin typeface="Arial"/>
              </a:rPr>
              <a:t>→</a:t>
            </a:r>
          </a:p>
        </p:txBody>
      </p:sp>
      <p:pic>
        <p:nvPicPr>
          <p:cNvPr id="11" name="Picture 10" descr="preview_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2209800"/>
            <a:ext cx="2377440" cy="3169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126480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input: 138,677 coloured points   →   output: textured .obj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989320" y="1371600"/>
          <a:ext cx="580643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3246"/>
                <a:gridCol w="2322576"/>
                <a:gridCol w="1250617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Method on slide 7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What we did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Colour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Poisson (DO NOT USE API)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own implementation, GPU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our texturing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IER (ECCV'20)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official code + weights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our texturing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Point2Mesh (SIGGRAPH'20)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official code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our texturing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MeshAnything (2024)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official V1 / V2 + weights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our texturing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DHSP (ICCV'21)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official code, full pipeline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own (2D prior)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Your own novel methods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photo texturing, DHSP fix, viewer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Extra (beyond slides)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NKSR, SAP, 2DGS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our texturing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989320" y="4617720"/>
            <a:ext cx="58064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0">
                <a:solidFill>
                  <a:srgbClr val="2B2F3A"/>
                </a:solidFill>
                <a:latin typeface="Arial"/>
              </a:rPr>
              <a:t>•  </a:t>
            </a:r>
            <a:r>
              <a:rPr sz="1400" b="1">
                <a:solidFill>
                  <a:srgbClr val="17243A"/>
                </a:solidFill>
                <a:latin typeface="Arial"/>
              </a:rPr>
              <a:t>Deliverables (slide 8):</a:t>
            </a:r>
            <a:r>
              <a:rPr sz="1400" b="0">
                <a:solidFill>
                  <a:srgbClr val="2B2F3A"/>
                </a:solidFill>
                <a:latin typeface="Arial"/>
              </a:rPr>
              <a:t> presentation · code · one-page document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0">
                <a:solidFill>
                  <a:srgbClr val="2B2F3A"/>
                </a:solidFill>
                <a:latin typeface="Arial"/>
              </a:rPr>
              <a:t>•  </a:t>
            </a:r>
            <a:r>
              <a:rPr sz="1400" b="1">
                <a:solidFill>
                  <a:srgbClr val="17243A"/>
                </a:solidFill>
                <a:latin typeface="Arial"/>
              </a:rPr>
              <a:t>Bonus:</a:t>
            </a:r>
            <a:r>
              <a:rPr sz="1400" b="0">
                <a:solidFill>
                  <a:srgbClr val="2B2F3A"/>
                </a:solidFill>
                <a:latin typeface="Arial"/>
              </a:rPr>
              <a:t> browser mesh viewer, side-by-side, CPU only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0">
                <a:solidFill>
                  <a:srgbClr val="2B2F3A"/>
                </a:solidFill>
                <a:latin typeface="Arial"/>
              </a:rPr>
              <a:t>•  </a:t>
            </a:r>
            <a:r>
              <a:rPr sz="1400" b="1">
                <a:solidFill>
                  <a:srgbClr val="17243A"/>
                </a:solidFill>
                <a:latin typeface="Arial"/>
              </a:rPr>
              <a:t>Our goal:</a:t>
            </a:r>
            <a:r>
              <a:rPr sz="1400" b="0">
                <a:solidFill>
                  <a:srgbClr val="2B2F3A"/>
                </a:solidFill>
                <a:latin typeface="Arial"/>
              </a:rPr>
              <a:t> best quality, 3D-printable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Three input clouds of the same person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786384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All from Sub-project 1; every method runs on all three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INPUTS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pic>
        <p:nvPicPr>
          <p:cNvPr id="9" name="Picture 8" descr="fig_inpu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567" y="1280160"/>
            <a:ext cx="8202385" cy="388620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5212080"/>
          <a:ext cx="10515598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268"/>
                <a:gridCol w="1301931"/>
                <a:gridCol w="2403565"/>
                <a:gridCol w="4606834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Input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Points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Normals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Character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VGGSfM (main)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138,677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ours (PCA + MST)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clean, sparser, mask-cleaned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COLMAP MVS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487,451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COLMAP PatchMatch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dense; streaks + floating outliers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MVS-clean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487,047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COLMAP PatchMatch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404 floaters removed (clean_cloud.py)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One pipeline for every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786384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Methods only produce geometry; everything after it is shared and identical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03120"/>
            <a:ext cx="1600200" cy="1188720"/>
          </a:xfrm>
          <a:prstGeom prst="roundRect">
            <a:avLst>
              <a:gd name="adj" fmla="val 8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2148839"/>
            <a:ext cx="1453896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500" b="1">
                <a:solidFill>
                  <a:srgbClr val="17243A"/>
                </a:solidFill>
                <a:latin typeface="Arial"/>
              </a:rPr>
              <a:t>Input cloud</a:t>
            </a:r>
          </a:p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50" b="0">
                <a:solidFill>
                  <a:srgbClr val="2B2F3A"/>
                </a:solidFill>
                <a:latin typeface="Arial"/>
              </a:rPr>
              <a:t>xyz + rgb</a:t>
            </a:r>
          </a:p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50" b="0">
                <a:solidFill>
                  <a:srgbClr val="2B2F3A"/>
                </a:solidFill>
                <a:latin typeface="Arial"/>
              </a:rPr>
              <a:t>(+ normals)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29968" y="2697480"/>
            <a:ext cx="301752" cy="0"/>
          </a:xfrm>
          <a:prstGeom prst="line">
            <a:avLst/>
          </a:prstGeom>
          <a:ln w="2540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50008" y="2103120"/>
            <a:ext cx="1600200" cy="1188720"/>
          </a:xfrm>
          <a:prstGeom prst="roundRect">
            <a:avLst>
              <a:gd name="adj" fmla="val 8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23160" y="2148839"/>
            <a:ext cx="1453896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500" b="1">
                <a:solidFill>
                  <a:srgbClr val="17243A"/>
                </a:solidFill>
                <a:latin typeface="Arial"/>
              </a:rPr>
              <a:t>Normals</a:t>
            </a:r>
          </a:p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50" b="0">
                <a:solidFill>
                  <a:srgbClr val="2B2F3A"/>
                </a:solidFill>
                <a:latin typeface="Arial"/>
              </a:rPr>
              <a:t>PCA k=24</a:t>
            </a:r>
          </a:p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50" b="0">
                <a:solidFill>
                  <a:srgbClr val="2B2F3A"/>
                </a:solidFill>
                <a:latin typeface="Arial"/>
              </a:rPr>
              <a:t>MST orientation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68496" y="2697480"/>
            <a:ext cx="301752" cy="0"/>
          </a:xfrm>
          <a:prstGeom prst="line">
            <a:avLst/>
          </a:prstGeom>
          <a:ln w="2540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288536" y="1371600"/>
            <a:ext cx="233172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7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1417320"/>
            <a:ext cx="2240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500" b="1">
                <a:solidFill>
                  <a:srgbClr val="1E7B5C"/>
                </a:solidFill>
                <a:latin typeface="Arial"/>
              </a:rPr>
              <a:t>8 methods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1755648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2B2F3A"/>
                </a:solidFill>
                <a:latin typeface="Arial"/>
              </a:rPr>
              <a:t>Poisson (ours)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020824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2B2F3A"/>
                </a:solidFill>
                <a:latin typeface="Arial"/>
              </a:rPr>
              <a:t>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2860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2B2F3A"/>
                </a:solidFill>
                <a:latin typeface="Arial"/>
              </a:rPr>
              <a:t>Point2Mesh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2551176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2B2F3A"/>
                </a:solidFill>
                <a:latin typeface="Arial"/>
              </a:rPr>
              <a:t>MeshAnything V2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2816352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2B2F3A"/>
                </a:solidFill>
                <a:latin typeface="Arial"/>
              </a:rPr>
              <a:t>DHSP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081528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2B2F3A"/>
                </a:solidFill>
                <a:latin typeface="Arial"/>
              </a:rPr>
              <a:t>NKSR 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346703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2B2F3A"/>
                </a:solidFill>
                <a:latin typeface="Arial"/>
              </a:rPr>
              <a:t>SAP 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611879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2B2F3A"/>
                </a:solidFill>
                <a:latin typeface="Arial"/>
              </a:rPr>
              <a:t>2DGS *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38544" y="2697480"/>
            <a:ext cx="310896" cy="0"/>
          </a:xfrm>
          <a:prstGeom prst="line">
            <a:avLst/>
          </a:prstGeom>
          <a:ln w="2540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67728" y="1371600"/>
            <a:ext cx="2743200" cy="2651760"/>
          </a:xfrm>
          <a:prstGeom prst="roundRect">
            <a:avLst>
              <a:gd name="adj" fmla="val 8000"/>
            </a:avLst>
          </a:prstGeom>
          <a:solidFill>
            <a:srgbClr val="17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1444752"/>
            <a:ext cx="2606040" cy="2560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Shared finalizer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•  clean mesh (degenerate faces)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•  UV atlas (xatlas, 4096²)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•  texture: photos / points / own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•  metrics vs input cloud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•  same-camera renders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•  manifest.json (last)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9729216" y="1737360"/>
            <a:ext cx="283464" cy="960120"/>
          </a:xfrm>
          <a:prstGeom prst="line">
            <a:avLst/>
          </a:prstGeom>
          <a:ln w="2540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0030968" y="1371600"/>
            <a:ext cx="1783080" cy="777240"/>
          </a:xfrm>
          <a:prstGeom prst="roundRect">
            <a:avLst>
              <a:gd name="adj" fmla="val 8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04120" y="1417320"/>
            <a:ext cx="1636776" cy="6858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350" b="1">
                <a:solidFill>
                  <a:srgbClr val="17243A"/>
                </a:solidFill>
                <a:latin typeface="Arial"/>
              </a:rPr>
              <a:t>Mesh viewer</a:t>
            </a:r>
          </a:p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100" b="0">
                <a:solidFill>
                  <a:srgbClr val="2B2F3A"/>
                </a:solidFill>
                <a:latin typeface="Arial"/>
              </a:rPr>
              <a:t>three.js, side by side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9729216" y="2651760"/>
            <a:ext cx="283464" cy="45720"/>
          </a:xfrm>
          <a:prstGeom prst="line">
            <a:avLst/>
          </a:prstGeom>
          <a:ln w="2540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030968" y="2286000"/>
            <a:ext cx="1783080" cy="777240"/>
          </a:xfrm>
          <a:prstGeom prst="roundRect">
            <a:avLst>
              <a:gd name="adj" fmla="val 8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04120" y="2331720"/>
            <a:ext cx="1636776" cy="6858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350" b="1">
                <a:solidFill>
                  <a:srgbClr val="17243A"/>
                </a:solidFill>
                <a:latin typeface="Arial"/>
              </a:rPr>
              <a:t>3D print</a:t>
            </a:r>
          </a:p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100" b="0">
                <a:solidFill>
                  <a:srgbClr val="2B2F3A"/>
                </a:solidFill>
                <a:latin typeface="Arial"/>
              </a:rPr>
              <a:t>180 mm STL + checks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729216" y="2697480"/>
            <a:ext cx="283464" cy="868680"/>
          </a:xfrm>
          <a:prstGeom prst="line">
            <a:avLst/>
          </a:prstGeom>
          <a:ln w="2540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030968" y="3200400"/>
            <a:ext cx="1783080" cy="777240"/>
          </a:xfrm>
          <a:prstGeom prst="roundRect">
            <a:avLst>
              <a:gd name="adj" fmla="val 8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04120" y="3246120"/>
            <a:ext cx="1636776" cy="6858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350" b="1">
                <a:solidFill>
                  <a:srgbClr val="17243A"/>
                </a:solidFill>
                <a:latin typeface="Arial"/>
              </a:rPr>
              <a:t>GitHub bundle</a:t>
            </a:r>
          </a:p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100" b="0">
                <a:solidFill>
                  <a:srgbClr val="2B2F3A"/>
                </a:solidFill>
                <a:latin typeface="Arial"/>
              </a:rPr>
              <a:t>viewer-sized zips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663440"/>
            <a:ext cx="1124712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2B2F3A"/>
                </a:solidFill>
                <a:latin typeface="Arial"/>
              </a:rPr>
              <a:t>•  </a:t>
            </a:r>
            <a:r>
              <a:rPr sz="1350" b="1">
                <a:solidFill>
                  <a:srgbClr val="17243A"/>
                </a:solidFill>
                <a:latin typeface="Arial"/>
              </a:rPr>
              <a:t>Contract:</a:t>
            </a:r>
            <a:r>
              <a:rPr sz="1350" b="0">
                <a:solidFill>
                  <a:srgbClr val="2B2F3A"/>
                </a:solidFill>
                <a:latin typeface="Arial"/>
              </a:rPr>
              <a:t> run.sh &lt;run_dir&gt; → geometry.ply + method_info.json + progress.json;  finalize.sh &lt;run_dir&gt; → mesh.obj / .mtl / texture, metrics.json, previews, manifest.json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2B2F3A"/>
                </a:solidFill>
                <a:latin typeface="Arial"/>
              </a:rPr>
              <a:t>•  </a:t>
            </a:r>
            <a:r>
              <a:rPr sz="1350" b="1">
                <a:solidFill>
                  <a:srgbClr val="17243A"/>
                </a:solidFill>
                <a:latin typeface="Arial"/>
              </a:rPr>
              <a:t>Compute:</a:t>
            </a:r>
            <a:r>
              <a:rPr sz="1350" b="0">
                <a:solidFill>
                  <a:srgbClr val="2B2F3A"/>
                </a:solidFill>
                <a:latin typeface="Arial"/>
              </a:rPr>
              <a:t> one RTX 5000 Ada (32 GB) through Slurm; restartable job queue in tmux with live GPU monitor; nothing runs on the login node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2B2F3A"/>
                </a:solidFill>
                <a:latin typeface="Arial"/>
              </a:rPr>
              <a:t>•  </a:t>
            </a:r>
            <a:r>
              <a:rPr sz="1350" b="1">
                <a:solidFill>
                  <a:srgbClr val="17243A"/>
                </a:solidFill>
                <a:latin typeface="Arial"/>
              </a:rPr>
              <a:t>Scale:</a:t>
            </a:r>
            <a:r>
              <a:rPr sz="1350" b="0">
                <a:solidFill>
                  <a:srgbClr val="2B2F3A"/>
                </a:solidFill>
                <a:latin typeface="Arial"/>
              </a:rPr>
              <a:t> ≈110 finished runs over 3 inputs (ablations, seeds, texture variants); best run per method selected automatically (select_best.py)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Screened Poisson, implemented from scratch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786384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No Poisson / marching-cubes library: normals, solver and mesh extraction are our own code (PyTorch tensors on the GPU)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METHOD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760720" cy="758952"/>
          </a:xfrm>
          <a:prstGeom prst="roundRect">
            <a:avLst>
              <a:gd name="adj" fmla="val 8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362456"/>
            <a:ext cx="55778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450" b="1">
                <a:solidFill>
                  <a:srgbClr val="1E7B5C"/>
                </a:solidFill>
                <a:latin typeface="Arial"/>
              </a:rPr>
              <a:t>1  Oriented normals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0">
                <a:solidFill>
                  <a:srgbClr val="2B2F3A"/>
                </a:solidFill>
                <a:latin typeface="Arial"/>
              </a:rPr>
              <a:t>PCA (k = 24) gives ±n; signs propagated along a minimum spanning tree, then each component flipped outward (local-centroid vote)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76272"/>
            <a:ext cx="5760720" cy="758952"/>
          </a:xfrm>
          <a:prstGeom prst="roundRect">
            <a:avLst>
              <a:gd name="adj" fmla="val 8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12848"/>
            <a:ext cx="55778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450" b="1">
                <a:solidFill>
                  <a:srgbClr val="1E7B5C"/>
                </a:solidFill>
                <a:latin typeface="Arial"/>
              </a:rPr>
              <a:t>2  Splat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0">
                <a:solidFill>
                  <a:srgbClr val="2B2F3A"/>
                </a:solidFill>
                <a:latin typeface="Arial"/>
              </a:rPr>
              <a:t>inward normals × local spacing² → vector field V on a 384³ grid ([1,2,1] smoothing ≈ B-spline)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26664"/>
            <a:ext cx="5760720" cy="758952"/>
          </a:xfrm>
          <a:prstGeom prst="roundRect">
            <a:avLst>
              <a:gd name="adj" fmla="val 8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063240"/>
            <a:ext cx="55778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450" b="1">
                <a:solidFill>
                  <a:srgbClr val="1E7B5C"/>
                </a:solidFill>
                <a:latin typeface="Arial"/>
              </a:rPr>
              <a:t>3  Solve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0">
                <a:solidFill>
                  <a:srgbClr val="2B2F3A"/>
                </a:solidFill>
                <a:latin typeface="Arial"/>
              </a:rPr>
              <a:t>screened Poisson system, Jacobi-preconditioned CG on the GPU, coarse-to-fine 96³ → 192³ → 384³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77056"/>
            <a:ext cx="5760720" cy="758952"/>
          </a:xfrm>
          <a:prstGeom prst="roundRect">
            <a:avLst>
              <a:gd name="adj" fmla="val 8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913632"/>
            <a:ext cx="55778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450" b="1">
                <a:solidFill>
                  <a:srgbClr val="1E7B5C"/>
                </a:solidFill>
                <a:latin typeface="Arial"/>
              </a:rPr>
              <a:t>4  Extract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0">
                <a:solidFill>
                  <a:srgbClr val="2B2F3A"/>
                </a:solidFill>
                <a:latin typeface="Arial"/>
              </a:rPr>
              <a:t>iso = weighted mean of χ at the samples; own marching tetrahedra (Kuhn split, welded vertices → crack-free, consistently oriented)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727448"/>
            <a:ext cx="5760720" cy="758952"/>
          </a:xfrm>
          <a:prstGeom prst="roundRect">
            <a:avLst>
              <a:gd name="adj" fmla="val 8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764024"/>
            <a:ext cx="55778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450" b="1">
                <a:solidFill>
                  <a:srgbClr val="1E7B5C"/>
                </a:solidFill>
                <a:latin typeface="Arial"/>
              </a:rPr>
              <a:t>5  Trim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0">
                <a:solidFill>
                  <a:srgbClr val="2B2F3A"/>
                </a:solidFill>
                <a:latin typeface="Arial"/>
              </a:rPr>
              <a:t>drop faces &gt; 2 voxels from every sample, keep large components (watertight variant: no trim)</a:t>
            </a:r>
          </a:p>
        </p:txBody>
      </p:sp>
      <p:pic>
        <p:nvPicPr>
          <p:cNvPr id="19" name="Picture 18" descr="pois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530090"/>
            <a:ext cx="5303520" cy="36881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92240" y="2103120"/>
            <a:ext cx="53035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>
                <a:solidFill>
                  <a:srgbClr val="2B2F3A"/>
                </a:solidFill>
                <a:latin typeface="Arial"/>
              </a:rPr>
              <a:t>•  χ: indicator (1 inside, 0 outside);  ∇χ ≈ V (normals)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>
                <a:solidFill>
                  <a:srgbClr val="2B2F3A"/>
                </a:solidFill>
                <a:latin typeface="Arial"/>
              </a:rPr>
              <a:t>•  S: trilinear sampling of χ at the points;  c: iso-value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>
                <a:solidFill>
                  <a:srgbClr val="2B2F3A"/>
                </a:solidFill>
                <a:latin typeface="Arial"/>
              </a:rPr>
              <a:t>•  β (α = 4): screening weight;  α = 0 → classic 2006 Poisson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2B2F3A"/>
                </a:solidFill>
                <a:latin typeface="Arial"/>
              </a:rPr>
              <a:t>•  MST edge cost:</a:t>
            </a:r>
          </a:p>
        </p:txBody>
      </p:sp>
      <p:pic>
        <p:nvPicPr>
          <p:cNvPr id="21" name="Picture 20" descr="m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3127248"/>
            <a:ext cx="2144007" cy="365760"/>
          </a:xfrm>
          <a:prstGeom prst="rect">
            <a:avLst/>
          </a:prstGeom>
        </p:spPr>
      </p:pic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492240" y="3703320"/>
          <a:ext cx="5303519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22960"/>
                <a:gridCol w="731520"/>
                <a:gridCol w="731520"/>
                <a:gridCol w="64007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Run (VGGSfM)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Faces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CD %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F@1%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Time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F3A"/>
                          </a:solidFill>
                          <a:latin typeface="Arial"/>
                        </a:rPr>
                        <a:t>384³, screened, trimmed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1.02M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0.149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0.999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39s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F3A"/>
                          </a:solidFill>
                          <a:latin typeface="Arial"/>
                        </a:rPr>
                        <a:t>MVS-clean, 384³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669k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0.101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0.999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72s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492240" y="4846320"/>
            <a:ext cx="530352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2B2F3A"/>
                </a:solidFill>
                <a:latin typeface="Arial"/>
              </a:rPr>
              <a:t>•  </a:t>
            </a:r>
            <a:r>
              <a:rPr sz="1200" b="1">
                <a:solidFill>
                  <a:srgbClr val="17243A"/>
                </a:solidFill>
                <a:latin typeface="Arial"/>
              </a:rPr>
              <a:t>Deviation from the paper:</a:t>
            </a:r>
            <a:r>
              <a:rPr sz="1200" b="0">
                <a:solidFill>
                  <a:srgbClr val="2B2F3A"/>
                </a:solidFill>
                <a:latin typeface="Arial"/>
              </a:rPr>
              <a:t> dense grid + cascadic CG instead of an adaptive octree + multigrid; marching tetrahedra instead of marching cubes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2B2F3A"/>
                </a:solidFill>
                <a:latin typeface="Arial"/>
              </a:rPr>
              <a:t>•  </a:t>
            </a:r>
            <a:r>
              <a:rPr sz="1200" b="1">
                <a:solidFill>
                  <a:srgbClr val="17243A"/>
                </a:solidFill>
                <a:latin typeface="Arial"/>
              </a:rPr>
              <a:t>Sanity check:</a:t>
            </a:r>
            <a:r>
              <a:rPr sz="1200" b="0">
                <a:solidFill>
                  <a:srgbClr val="2B2F3A"/>
                </a:solidFill>
                <a:latin typeface="Arial"/>
              </a:rPr>
              <a:t> sphere radius error 0.0007 (selftest.py)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Poisson: what each design choice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786384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Ablation on the VGGSfM cloud (shaded geometry)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METHOD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pic>
        <p:nvPicPr>
          <p:cNvPr id="9" name="Picture 8" descr="fig_poisson_abl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917116"/>
            <a:ext cx="6949440" cy="3755287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543800" y="1463040"/>
          <a:ext cx="429767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3118"/>
                <a:gridCol w="687628"/>
                <a:gridCol w="773582"/>
                <a:gridCol w="515721"/>
                <a:gridCol w="687628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Variant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CD %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F@0.5%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NC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Faces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classic, 256³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0.230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0.931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0.84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265k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screened, 256³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0.179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0.970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0.79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358k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screened, 384³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0.149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0.988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1.02M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384³ watertight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0.154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0.977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1.05M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543800" y="3520440"/>
            <a:ext cx="4297680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2B2F3A"/>
                </a:solidFill>
                <a:latin typeface="Arial"/>
              </a:rPr>
              <a:t>•  </a:t>
            </a:r>
            <a:r>
              <a:rPr sz="1350" b="1">
                <a:solidFill>
                  <a:srgbClr val="17243A"/>
                </a:solidFill>
                <a:latin typeface="Arial"/>
              </a:rPr>
              <a:t>Screening</a:t>
            </a:r>
            <a:r>
              <a:rPr sz="1350" b="0">
                <a:solidFill>
                  <a:srgbClr val="2B2F3A"/>
                </a:solidFill>
                <a:latin typeface="Arial"/>
              </a:rPr>
              <a:t> pins χ to the samples → +0.04 F@0.5%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2B2F3A"/>
                </a:solidFill>
                <a:latin typeface="Arial"/>
              </a:rPr>
              <a:t>•  </a:t>
            </a:r>
            <a:r>
              <a:rPr sz="1350" b="1">
                <a:solidFill>
                  <a:srgbClr val="17243A"/>
                </a:solidFill>
                <a:latin typeface="Arial"/>
              </a:rPr>
              <a:t>Finer grid</a:t>
            </a:r>
            <a:r>
              <a:rPr sz="1350" b="0">
                <a:solidFill>
                  <a:srgbClr val="2B2F3A"/>
                </a:solidFill>
                <a:latin typeface="Arial"/>
              </a:rPr>
              <a:t> → more detail, also more scan noise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2B2F3A"/>
                </a:solidFill>
                <a:latin typeface="Arial"/>
              </a:rPr>
              <a:t>•  </a:t>
            </a:r>
            <a:r>
              <a:rPr sz="1350" b="1">
                <a:solidFill>
                  <a:srgbClr val="17243A"/>
                </a:solidFill>
                <a:latin typeface="Arial"/>
              </a:rPr>
              <a:t>No trimming</a:t>
            </a:r>
            <a:r>
              <a:rPr sz="1350" b="0">
                <a:solidFill>
                  <a:srgbClr val="2B2F3A"/>
                </a:solidFill>
                <a:latin typeface="Arial"/>
              </a:rPr>
              <a:t> → closed surface for printing at almost no cost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2B2F3A"/>
                </a:solidFill>
                <a:latin typeface="Arial"/>
              </a:rPr>
              <a:t>•  </a:t>
            </a:r>
            <a:r>
              <a:rPr sz="1350" b="1">
                <a:solidFill>
                  <a:srgbClr val="17243A"/>
                </a:solidFill>
                <a:latin typeface="Arial"/>
              </a:rPr>
              <a:t>NC</a:t>
            </a:r>
            <a:r>
              <a:rPr sz="1350" b="0">
                <a:solidFill>
                  <a:srgbClr val="2B2F3A"/>
                </a:solidFill>
                <a:latin typeface="Arial"/>
              </a:rPr>
              <a:t> rewards smoothness, CD/F reward closeness: read them together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Learned priors: IER and MeshAnything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786384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Pretrained networks only work inside their training domain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METHODS 2-4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577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1">
                <a:solidFill>
                  <a:srgbClr val="1E7B5C"/>
                </a:solidFill>
                <a:latin typeface="Arial"/>
              </a:rPr>
              <a:t>IER meshing (ECCV'20)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557784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2B2F3A"/>
                </a:solidFill>
                <a:latin typeface="Arial"/>
              </a:rPr>
              <a:t>•  kNN candidate triangles → pretrained network scores each by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2B2F3A"/>
                </a:solidFill>
                <a:latin typeface="Arial"/>
              </a:rPr>
              <a:t>•  ≈1 on the surface, ≫1 across gaps (arm ↔ chest) → greedy manifold selection</a:t>
            </a:r>
          </a:p>
        </p:txBody>
      </p:sp>
      <p:pic>
        <p:nvPicPr>
          <p:cNvPr id="11" name="Picture 10" descr="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6269" y="2395728"/>
            <a:ext cx="2982500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3108960"/>
            <a:ext cx="55778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2B2F3A"/>
                </a:solidFill>
                <a:latin typeface="Arial"/>
              </a:rPr>
              <a:t>•  </a:t>
            </a:r>
            <a:r>
              <a:rPr sz="1350" b="1">
                <a:solidFill>
                  <a:srgbClr val="17243A"/>
                </a:solidFill>
                <a:latin typeface="Arial"/>
              </a:rPr>
              <a:t>Our fix:</a:t>
            </a:r>
            <a:r>
              <a:rPr sz="1350" b="0">
                <a:solidFill>
                  <a:srgbClr val="2B2F3A"/>
                </a:solidFill>
                <a:latin typeface="Arial"/>
              </a:rPr>
              <a:t> FPS to the training density (12.5k pts, unit diagonal) → F@1% 0.998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2B2F3A"/>
                </a:solidFill>
                <a:latin typeface="Arial"/>
              </a:rPr>
              <a:t>•  </a:t>
            </a:r>
            <a:r>
              <a:rPr sz="1350" b="1">
                <a:solidFill>
                  <a:srgbClr val="17243A"/>
                </a:solidFill>
                <a:latin typeface="Arial"/>
              </a:rPr>
              <a:t>Caveat:</a:t>
            </a:r>
            <a:r>
              <a:rPr sz="1350" b="0">
                <a:solidFill>
                  <a:srgbClr val="2B2F3A"/>
                </a:solidFill>
                <a:latin typeface="Arial"/>
              </a:rPr>
              <a:t> inconsistent winding (red faces), holes → two-sided photo texturing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1">
                <a:solidFill>
                  <a:srgbClr val="1E7B5C"/>
                </a:solidFill>
                <a:latin typeface="Arial"/>
              </a:rPr>
              <a:t>MeshAnything V2 (2024)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691640"/>
            <a:ext cx="54864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2B2F3A"/>
                </a:solidFill>
                <a:latin typeface="Arial"/>
              </a:rPr>
              <a:t>•  autoregressive transformer generates an artist mesh face by face (≤1.6k faces)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2B2F3A"/>
                </a:solidFill>
                <a:latin typeface="Arial"/>
              </a:rPr>
              <a:t>•  raw points: F@1% ≤ 0.51 → our Poisson mesh via the authors' --mc path: </a:t>
            </a:r>
            <a:r>
              <a:rPr sz="1350" b="1">
                <a:solidFill>
                  <a:srgbClr val="17243A"/>
                </a:solidFill>
                <a:latin typeface="Arial"/>
              </a:rPr>
              <a:t>0.987</a:t>
            </a:r>
          </a:p>
        </p:txBody>
      </p:sp>
      <p:pic>
        <p:nvPicPr>
          <p:cNvPr id="15" name="Picture 14" descr="fig_meshanyth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4540" y="2926080"/>
            <a:ext cx="3867478" cy="3429000"/>
          </a:xfrm>
          <a:prstGeom prst="rect">
            <a:avLst/>
          </a:prstGeom>
        </p:spPr>
      </p:pic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4206240"/>
          <a:ext cx="5120639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7267"/>
                <a:gridCol w="1181686"/>
                <a:gridCol w="1181686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MeshAnything run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F@1%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faces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F3A"/>
                          </a:solidFill>
                          <a:latin typeface="Arial"/>
                        </a:rPr>
                        <a:t>V1, raw points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0.442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795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F3A"/>
                          </a:solidFill>
                          <a:latin typeface="Arial"/>
                        </a:rPr>
                        <a:t>V2, raw points (greedy)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0.113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624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F3A"/>
                          </a:solidFill>
                          <a:latin typeface="Arial"/>
                        </a:rPr>
                        <a:t>V2, raw points (sampled)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0.508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1802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F3A"/>
                          </a:solidFill>
                          <a:latin typeface="Arial"/>
                        </a:rPr>
                        <a:t>V1, mesh --mc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0.929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F3A"/>
                          </a:solidFill>
                          <a:latin typeface="Arial"/>
                        </a:rPr>
                        <a:t>V2, mesh --mc 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B2F3A"/>
                          </a:solidFill>
                          <a:latin typeface="Arial"/>
                        </a:rPr>
                        <a:t>0.987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1435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F3A"/>
                          </a:solidFill>
                          <a:latin typeface="Arial"/>
                        </a:rPr>
                        <a:t>V2, mesh --mc 8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0.972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1810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Self-prior: Point2Mesh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786384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A randomly initialised CNN, optimised on this one cloud, deforms a convex hull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METHODS 2-4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pic>
        <p:nvPicPr>
          <p:cNvPr id="9" name="Picture 8" descr="fig_point2me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659" y="1234440"/>
            <a:ext cx="6930521" cy="512064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80960" y="1463040"/>
          <a:ext cx="411479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6290"/>
                <a:gridCol w="1122218"/>
                <a:gridCol w="748145"/>
                <a:gridCol w="748145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Run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Input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F@1%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CD %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paper defaults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VGGSfM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0.646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0.82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--unoriented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VGGSfM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0.844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0.55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--unoriented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MVS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0.133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3.98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--unoriented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MVS-clean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0.387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1.30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80960" y="3429000"/>
            <a:ext cx="4114800" cy="2926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loss: Chamfer(mesh, points) + normal term; mesh = hull + CNN(θ) displacements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hull → Manifold (2k faces) → CNN displacements → subdivide + re-manifold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</a:t>
            </a:r>
            <a:r>
              <a:rPr sz="1300" b="1">
                <a:solidFill>
                  <a:srgbClr val="17243A"/>
                </a:solidFill>
                <a:latin typeface="Arial"/>
              </a:rPr>
              <a:t>Normal orientation</a:t>
            </a:r>
            <a:r>
              <a:rPr sz="1300" b="0">
                <a:solidFill>
                  <a:srgbClr val="2B2F3A"/>
                </a:solidFill>
                <a:latin typeface="Arial"/>
              </a:rPr>
              <a:t> matters: unoriented loss +0.20 F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</a:t>
            </a:r>
            <a:r>
              <a:rPr sz="1300" b="1">
                <a:solidFill>
                  <a:srgbClr val="17243A"/>
                </a:solidFill>
                <a:latin typeface="Arial"/>
              </a:rPr>
              <a:t>Outliers</a:t>
            </a:r>
            <a:r>
              <a:rPr sz="1300" b="0">
                <a:solidFill>
                  <a:srgbClr val="2B2F3A"/>
                </a:solidFill>
                <a:latin typeface="Arial"/>
              </a:rPr>
              <a:t> break shrink-wrapping (MVS)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</a:t>
            </a:r>
            <a:r>
              <a:rPr sz="1300" b="1">
                <a:solidFill>
                  <a:srgbClr val="17243A"/>
                </a:solidFill>
                <a:latin typeface="Arial"/>
              </a:rPr>
              <a:t>Watertight</a:t>
            </a:r>
            <a:r>
              <a:rPr sz="1300" b="0">
                <a:solidFill>
                  <a:srgbClr val="2B2F3A"/>
                </a:solidFill>
                <a:latin typeface="Arial"/>
              </a:rPr>
              <a:t> by construction → printable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DHSP: getting the full hybrid pipeline to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786384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Deep Hybrid Self-Prior (ICCV'21): 3D mesh prior + 2D image priors, recovers shape and colour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METHOD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645920" cy="777240"/>
          </a:xfrm>
          <a:prstGeom prst="roundRect">
            <a:avLst>
              <a:gd name="adj" fmla="val 8000"/>
            </a:avLst>
          </a:prstGeom>
          <a:solidFill>
            <a:srgbClr val="17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325880"/>
            <a:ext cx="16459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3D prior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21408" y="1709928"/>
            <a:ext cx="237744" cy="0"/>
          </a:xfrm>
          <a:prstGeom prst="line">
            <a:avLst/>
          </a:prstGeom>
          <a:ln w="2540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77440" y="1325880"/>
            <a:ext cx="1645920" cy="777240"/>
          </a:xfrm>
          <a:prstGeom prst="roundRect">
            <a:avLst>
              <a:gd name="adj" fmla="val 8000"/>
            </a:avLst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0" y="1325880"/>
            <a:ext cx="16459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re-mesh
(ours)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41648" y="1709928"/>
            <a:ext cx="237744" cy="0"/>
          </a:xfrm>
          <a:prstGeom prst="line">
            <a:avLst/>
          </a:prstGeom>
          <a:ln w="2540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297680" y="1325880"/>
            <a:ext cx="1645920" cy="777240"/>
          </a:xfrm>
          <a:prstGeom prst="roundRect">
            <a:avLst>
              <a:gd name="adj" fmla="val 8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325880"/>
            <a:ext cx="16459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300" b="1">
                <a:solidFill>
                  <a:srgbClr val="17243A"/>
                </a:solidFill>
                <a:latin typeface="Arial"/>
              </a:rPr>
              <a:t>OptCuts
UV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61888" y="1709928"/>
            <a:ext cx="237744" cy="0"/>
          </a:xfrm>
          <a:prstGeom prst="line">
            <a:avLst/>
          </a:prstGeom>
          <a:ln w="2540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17920" y="1325880"/>
            <a:ext cx="1645920" cy="777240"/>
          </a:xfrm>
          <a:prstGeom prst="roundRect">
            <a:avLst>
              <a:gd name="adj" fmla="val 8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325880"/>
            <a:ext cx="16459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300" b="1">
                <a:solidFill>
                  <a:srgbClr val="17243A"/>
                </a:solidFill>
                <a:latin typeface="Arial"/>
              </a:rPr>
              <a:t>2D geometry
prior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882128" y="1709928"/>
            <a:ext cx="237744" cy="0"/>
          </a:xfrm>
          <a:prstGeom prst="line">
            <a:avLst/>
          </a:prstGeom>
          <a:ln w="2540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60" y="1325880"/>
            <a:ext cx="1645920" cy="777240"/>
          </a:xfrm>
          <a:prstGeom prst="roundRect">
            <a:avLst>
              <a:gd name="adj" fmla="val 8000"/>
            </a:avLst>
          </a:prstGeom>
          <a:solidFill>
            <a:srgbClr val="17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1325880"/>
            <a:ext cx="16459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back-project
+ 3D refine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02368" y="1709928"/>
            <a:ext cx="237744" cy="0"/>
          </a:xfrm>
          <a:prstGeom prst="line">
            <a:avLst/>
          </a:prstGeom>
          <a:ln w="2540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058400" y="1325880"/>
            <a:ext cx="1645920" cy="777240"/>
          </a:xfrm>
          <a:prstGeom prst="roundRect">
            <a:avLst>
              <a:gd name="adj" fmla="val 8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0" y="1325880"/>
            <a:ext cx="16459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300" b="1">
                <a:solidFill>
                  <a:srgbClr val="17243A"/>
                </a:solidFill>
                <a:latin typeface="Arial"/>
              </a:rPr>
              <a:t>2D texture
prior</a:t>
            </a:r>
          </a:p>
        </p:txBody>
      </p:sp>
      <p:pic>
        <p:nvPicPr>
          <p:cNvPr id="26" name="Picture 25" descr="fig_dhs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767" y="2286000"/>
            <a:ext cx="6144544" cy="4069080"/>
          </a:xfrm>
          <a:prstGeom prst="rect">
            <a:avLst/>
          </a:prstGeom>
        </p:spPr>
      </p:pic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7315200" y="2423160"/>
          <a:ext cx="448055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8607"/>
                <a:gridCol w="762648"/>
                <a:gridCol w="667317"/>
                <a:gridCol w="571986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DHSP run (VGGSfM)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F@1%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NC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WT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F3A"/>
                          </a:solidFill>
                          <a:latin typeface="Arial"/>
                        </a:rPr>
                        <a:t>v1 3D prior only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0.999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0.65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F3A"/>
                          </a:solidFill>
                          <a:latin typeface="Arial"/>
                        </a:rPr>
                        <a:t>v2 + xatlas 2D texture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0.999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0.65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F3A"/>
                          </a:solidFill>
                          <a:latin typeface="Arial"/>
                        </a:rPr>
                        <a:t>v4 re-mesh + OptCuts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0.874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B2F3A"/>
                          </a:solidFill>
                          <a:latin typeface="Arial"/>
                        </a:rPr>
                        <a:t>0.89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F3A"/>
                          </a:solidFill>
                          <a:latin typeface="Arial"/>
                        </a:rPr>
                        <a:t>v5 + Laplacian 1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0.901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B2F3A"/>
                          </a:solidFill>
                          <a:latin typeface="Arial"/>
                        </a:rPr>
                        <a:t>0.89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F3A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7315200" y="4297680"/>
            <a:ext cx="448056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</a:t>
            </a:r>
            <a:r>
              <a:rPr sz="1300" b="1">
                <a:solidFill>
                  <a:srgbClr val="17243A"/>
                </a:solidFill>
                <a:latin typeface="Arial"/>
              </a:rPr>
              <a:t>Crumpled prior:</a:t>
            </a:r>
            <a:r>
              <a:rPr sz="1300" b="0">
                <a:solidFill>
                  <a:srgbClr val="2B2F3A"/>
                </a:solidFill>
                <a:latin typeface="Arial"/>
              </a:rPr>
              <a:t> F-score high, surface folded (NC 0.65)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</a:t>
            </a:r>
            <a:r>
              <a:rPr sz="1300" b="1">
                <a:solidFill>
                  <a:srgbClr val="17243A"/>
                </a:solidFill>
                <a:latin typeface="Arial"/>
              </a:rPr>
              <a:t>OptCuts:</a:t>
            </a:r>
            <a:r>
              <a:rPr sz="1300" b="0">
                <a:solidFill>
                  <a:srgbClr val="2B2F3A"/>
                </a:solidFill>
                <a:latin typeface="Arial"/>
              </a:rPr>
              <a:t> no convergence in 15 h → converges in seconds after re-meshing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</a:t>
            </a:r>
            <a:r>
              <a:rPr sz="1300" b="1">
                <a:solidFill>
                  <a:srgbClr val="17243A"/>
                </a:solidFill>
                <a:latin typeface="Arial"/>
              </a:rPr>
              <a:t>MVS / MVS-clean:</a:t>
            </a:r>
            <a:r>
              <a:rPr sz="1300" b="0">
                <a:solidFill>
                  <a:srgbClr val="2B2F3A"/>
                </a:solidFill>
                <a:latin typeface="Arial"/>
              </a:rPr>
              <a:t> F@1% 0.900 / 0.916 — below the 3D prior (0.98): MVS outliers become fins; final atlas by xatlas (genus-2 surface)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Beyond the list: three recent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786384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Added to see where current methods stand on the same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EXTRA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pic>
        <p:nvPicPr>
          <p:cNvPr id="9" name="Picture 8" descr="fig_extr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611614"/>
            <a:ext cx="7589520" cy="331473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5394960"/>
          <a:ext cx="740663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2138"/>
                <a:gridCol w="2739442"/>
                <a:gridCol w="913147"/>
                <a:gridCol w="913147"/>
                <a:gridCol w="608764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Idea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F@1%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Time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WT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NKSR (CVPR'23)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pretrained kernel field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0.998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7s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SAP (NeurIPS'21)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differentiable Poisson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0.998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8min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2DGS (SIGGRAPH'24)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surfels fit to photos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0.972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47min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183879" y="1325880"/>
            <a:ext cx="3657600" cy="5029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600" b="1">
                <a:solidFill>
                  <a:srgbClr val="1E7B5C"/>
                </a:solidFill>
                <a:latin typeface="Arial"/>
              </a:rPr>
              <a:t>NKSR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2B2F3A"/>
                </a:solidFill>
                <a:latin typeface="Arial"/>
              </a:rPr>
              <a:t>best on dense MVS (CD 0.08%), seconds; open, non-manifold</a:t>
            </a:r>
          </a:p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600" b="1">
                <a:solidFill>
                  <a:srgbClr val="1E7B5C"/>
                </a:solidFill>
                <a:latin typeface="Arial"/>
              </a:rPr>
              <a:t>Shape As Points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2B2F3A"/>
                </a:solidFill>
                <a:latin typeface="Arial"/>
              </a:rPr>
              <a:t>optimises oriented points through a spectral Poisson solver (32³ → 256³); watertight</a:t>
            </a:r>
          </a:p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600" b="1">
                <a:solidFill>
                  <a:srgbClr val="1E7B5C"/>
                </a:solidFill>
                <a:latin typeface="Arial"/>
              </a:rPr>
              <a:t>2D Gaussian Splatting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2B2F3A"/>
                </a:solidFill>
                <a:latin typeface="Arial"/>
              </a:rPr>
              <a:t>surfels fitted to the masked photos, TSDF fusion of rendered depth; sharpest appearance, uses images rather than only points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Texture: projecting the photos onto the mesh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786384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Our own multi-view texturing for every shape-only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OUR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pic>
        <p:nvPicPr>
          <p:cNvPr id="9" name="Picture 8" descr="fig_tex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385" y="1234439"/>
            <a:ext cx="7281949" cy="3337560"/>
          </a:xfrm>
          <a:prstGeom prst="rect">
            <a:avLst/>
          </a:prstGeom>
        </p:spPr>
      </p:pic>
      <p:pic>
        <p:nvPicPr>
          <p:cNvPr id="10" name="Picture 9" descr="t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46" y="4754880"/>
            <a:ext cx="4692226" cy="777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623560"/>
            <a:ext cx="71323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0">
                <a:solidFill>
                  <a:srgbClr val="6B7280"/>
                </a:solidFill>
                <a:latin typeface="Arial"/>
              </a:rPr>
              <a:t>I_k: photo k, π_k: its COLMAP projection, θ_k: angle normal ↔ view, z_k: depth, g_k: exposure gain, d: scene diagonal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325880"/>
            <a:ext cx="3886200" cy="5029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>
                <a:solidFill>
                  <a:srgbClr val="1E7B5C"/>
                </a:solidFill>
                <a:latin typeface="Arial"/>
              </a:rPr>
              <a:t>Per texel, per photo: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in front of the camera, inside the image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inside the person mask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faces the camera (cos θ &gt; 0.25)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passes the z-buffer test (no occluded colour)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>
                <a:solidFill>
                  <a:srgbClr val="1E7B5C"/>
                </a:solidFill>
                <a:latin typeface="Arial"/>
              </a:rPr>
              <a:t>Blend: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frontal + close views win; ^8 keeps it sharp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per-photo exposure gain vs point colours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4096² texture; unseen texels → point colour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DHSP keeps its own colour; NKSR/2DGS also get photos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Results: best run of every method on all three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786384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Measured against each input cloud (no ground-truth surface exists)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80160"/>
            <a:ext cx="11292840" cy="347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1298448"/>
            <a:ext cx="4114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1E7B5C"/>
                </a:solidFill>
                <a:latin typeface="Arial"/>
              </a:rPr>
              <a:t>VGGSfM (main)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1298448"/>
            <a:ext cx="21031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1E7B5C"/>
                </a:solidFill>
                <a:latin typeface="Arial"/>
              </a:rPr>
              <a:t>MVS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1298448"/>
            <a:ext cx="21031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1E7B5C"/>
                </a:solidFill>
                <a:latin typeface="Arial"/>
              </a:rPr>
              <a:t>MVS-clean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1645920"/>
          <a:ext cx="11292834" cy="3867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0513"/>
                <a:gridCol w="961092"/>
                <a:gridCol w="1105256"/>
                <a:gridCol w="1105256"/>
                <a:gridCol w="913038"/>
                <a:gridCol w="1105256"/>
                <a:gridCol w="1105256"/>
                <a:gridCol w="1105256"/>
                <a:gridCol w="1105256"/>
                <a:gridCol w="576655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Faces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CD % ↓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F@1% ↑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NC ↑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CD % ↓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F@1% ↑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CD % ↓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F@1% ↑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WT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B2F3A"/>
                          </a:solidFill>
                          <a:latin typeface="Arial"/>
                        </a:rPr>
                        <a:t>Poisson (ours)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1.02M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B2F3A"/>
                          </a:solidFill>
                          <a:latin typeface="Arial"/>
                        </a:rPr>
                        <a:t>0.149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B2F3A"/>
                          </a:solidFill>
                          <a:latin typeface="Arial"/>
                        </a:rPr>
                        <a:t>0.999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0.127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0.999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0.127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0.999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B2F3A"/>
                          </a:solidFill>
                          <a:latin typeface="Arial"/>
                        </a:rPr>
                        <a:t>IER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17k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0.187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0.998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0.82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0.120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B2F3A"/>
                          </a:solidFill>
                          <a:latin typeface="Arial"/>
                        </a:rPr>
                        <a:t>1.000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0.123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B2F3A"/>
                          </a:solidFill>
                          <a:latin typeface="Arial"/>
                        </a:rPr>
                        <a:t>1.000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B2F3A"/>
                          </a:solidFill>
                          <a:latin typeface="Arial"/>
                        </a:rPr>
                        <a:t>Point2Mesh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10k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0.553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0.844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0.80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3.977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0.133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1.298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0.387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B2F3A"/>
                          </a:solidFill>
                          <a:latin typeface="Arial"/>
                        </a:rPr>
                        <a:t>MeshAnything V2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1.4k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0.295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0.987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0.82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0.518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0.873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0.438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0.908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B2F3A"/>
                          </a:solidFill>
                          <a:latin typeface="Arial"/>
                        </a:rPr>
                        <a:t>DHSP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6.0k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0.583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0.901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B2F3A"/>
                          </a:solidFill>
                          <a:latin typeface="Arial"/>
                        </a:rPr>
                        <a:t>0.89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0.636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0.900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0.627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0.916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B2F3A"/>
                          </a:solidFill>
                          <a:latin typeface="Arial"/>
                        </a:rPr>
                        <a:t>NKSR *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2.09M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0.156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0.998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B2F3A"/>
                          </a:solidFill>
                          <a:latin typeface="Arial"/>
                        </a:rPr>
                        <a:t>0.080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B2F3A"/>
                          </a:solidFill>
                          <a:latin typeface="Arial"/>
                        </a:rPr>
                        <a:t>1.000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B2F3A"/>
                          </a:solidFill>
                          <a:latin typeface="Arial"/>
                        </a:rPr>
                        <a:t>0.080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B2F3A"/>
                          </a:solidFill>
                          <a:latin typeface="Arial"/>
                        </a:rPr>
                        <a:t>1.000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B2F3A"/>
                          </a:solidFill>
                          <a:latin typeface="Arial"/>
                        </a:rPr>
                        <a:t>SAP *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64k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0.195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0.998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0.81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0.197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0.963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0.239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0.948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B2F3A"/>
                          </a:solidFill>
                          <a:latin typeface="Arial"/>
                        </a:rPr>
                        <a:t>2DGS *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657k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0.289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0.972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0.308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0.938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0.336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>0.928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B2F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57200" y="5623560"/>
            <a:ext cx="112928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0">
                <a:solidFill>
                  <a:srgbClr val="6B7280"/>
                </a:solidFill>
                <a:latin typeface="Arial"/>
              </a:rPr>
              <a:t>CD: Chamfer-L1 in % of the bbox diagonal · F@1%: F-score at 1% of the diagonal · NC: normal consistency · WT: watertight (VGGSfM mesh) · * beyond the course list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Qualitative comparison (VGGSfM)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786384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Top: textured · bottom: shaded geometry · red = back-facing (inconsistently oriented) faces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pic>
        <p:nvPicPr>
          <p:cNvPr id="9" name="Picture 8" descr="fig_grid_vggsf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367" y="1188720"/>
            <a:ext cx="7396784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Denser but noisier: the MVS clouds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786384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MVS-clean (404 floaters removed)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pic>
        <p:nvPicPr>
          <p:cNvPr id="9" name="Picture 8" descr="fig_grid_mvs_cle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06036"/>
            <a:ext cx="8412480" cy="49774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61120" y="1371600"/>
            <a:ext cx="2834640" cy="4937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Denser input → lower CD for point-following methods (NKSR 0.08%)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Dark trousers: few MVS points → holes in open meshes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Outliers: SAP blobs, Point2Mesh membranes (raw MVS F 0.13 → clean 0.39)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VGGSfM stays the better input for closed, printable meshes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Bonus: the mesh viewer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786384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Dependency-free Python server + three.js; runs the methods and compares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BONUS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pic>
        <p:nvPicPr>
          <p:cNvPr id="9" name="Picture 8" descr="ui_viewer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45869"/>
            <a:ext cx="7680960" cy="4320540"/>
          </a:xfrm>
          <a:prstGeom prst="rect">
            <a:avLst/>
          </a:prstGeom>
        </p:spPr>
      </p:pic>
      <p:pic>
        <p:nvPicPr>
          <p:cNvPr id="10" name="Picture 9" descr="ui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1237297"/>
            <a:ext cx="3566160" cy="20059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0" y="3383280"/>
            <a:ext cx="356616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textured / shaded / wireframe / input-point overlay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two runs side by side, synchronised cameras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dashboard: launch methods, progress, live GPU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compare page: all runs ranked by metric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715000"/>
            <a:ext cx="768096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7B5C"/>
                </a:solidFill>
                <a:latin typeface="Courier New"/>
              </a:rPr>
              <a:t>git clone …/cv802_assignment_2  &amp;&amp;  bash run_viewer.sh      (CPU only, no install)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3D printing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786384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print_export.py: largest component, outward normals, +Z up, feet at z = 0, 180 mm tall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BONUS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pic>
        <p:nvPicPr>
          <p:cNvPr id="9" name="Picture 8" descr="fig_pri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2234"/>
            <a:ext cx="6766560" cy="4110651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0" y="1371600"/>
          <a:ext cx="448055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7082"/>
                <a:gridCol w="966395"/>
                <a:gridCol w="878541"/>
                <a:gridCol w="878541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Mesh (VGGSfM)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Watertight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Volume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Printable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Poisson watertight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101 cm³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SAP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101 cm³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DHSP (full)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126 cm³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Point2Mesh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97 cm³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NKSR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2DGS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15200" y="4114800"/>
            <a:ext cx="4480560" cy="2194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STL (single colour) + OBJ/texture (colour printers)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Recommended: SAP or DHSP (clean, closed); Poisson watertight for most detail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2B2F3A"/>
                </a:solidFill>
                <a:latin typeface="Arial"/>
              </a:rPr>
              <a:t>•  Not checked: self-intersections; supports under crossed arms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What we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685800" cy="822960"/>
          </a:xfrm>
          <a:prstGeom prst="roundRect">
            <a:avLst>
              <a:gd name="adj" fmla="val 8000"/>
            </a:avLst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6858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325880"/>
            <a:ext cx="10515600" cy="822960"/>
          </a:xfrm>
          <a:prstGeom prst="roundRect">
            <a:avLst>
              <a:gd name="adj" fmla="val 8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362456"/>
            <a:ext cx="103327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700" b="1">
                <a:solidFill>
                  <a:srgbClr val="17243A"/>
                </a:solidFill>
                <a:latin typeface="Arial"/>
              </a:rPr>
              <a:t>A careful classical method is competitive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2B2F3A"/>
                </a:solidFill>
                <a:latin typeface="Arial"/>
              </a:rPr>
              <a:t>our from-scratch Poisson ties the pretrained networks on VGGSfM (F@1% 0.999, 39 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685800" cy="822960"/>
          </a:xfrm>
          <a:prstGeom prst="roundRect">
            <a:avLst>
              <a:gd name="adj" fmla="val 8000"/>
            </a:avLst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313432"/>
            <a:ext cx="6858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" y="2313432"/>
            <a:ext cx="10515600" cy="822960"/>
          </a:xfrm>
          <a:prstGeom prst="roundRect">
            <a:avLst>
              <a:gd name="adj" fmla="val 8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350008"/>
            <a:ext cx="103327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700" b="1">
                <a:solidFill>
                  <a:srgbClr val="17243A"/>
                </a:solidFill>
                <a:latin typeface="Arial"/>
              </a:rPr>
              <a:t>Point metrics hide surface quality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2B2F3A"/>
                </a:solidFill>
                <a:latin typeface="Arial"/>
              </a:rPr>
              <a:t>DHSP's crumpled prior scored F@1% 0.999; check NC and shaded renders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00984"/>
            <a:ext cx="685800" cy="822960"/>
          </a:xfrm>
          <a:prstGeom prst="roundRect">
            <a:avLst>
              <a:gd name="adj" fmla="val 8000"/>
            </a:avLst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300984"/>
            <a:ext cx="6858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" y="3300984"/>
            <a:ext cx="10515600" cy="822960"/>
          </a:xfrm>
          <a:prstGeom prst="roundRect">
            <a:avLst>
              <a:gd name="adj" fmla="val 8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3337560"/>
            <a:ext cx="103327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700" b="1">
                <a:solidFill>
                  <a:srgbClr val="17243A"/>
                </a:solidFill>
                <a:latin typeface="Arial"/>
              </a:rPr>
              <a:t>Learned methods live in their training domain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2B2F3A"/>
                </a:solidFill>
                <a:latin typeface="Arial"/>
              </a:rPr>
              <a:t>IER: point density · MeshAnything: mesh-like input (0.51 → 0.987) · NKSR: metric scale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288536"/>
            <a:ext cx="685800" cy="822960"/>
          </a:xfrm>
          <a:prstGeom prst="roundRect">
            <a:avLst>
              <a:gd name="adj" fmla="val 8000"/>
            </a:avLst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288536"/>
            <a:ext cx="6858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4288536"/>
            <a:ext cx="10515600" cy="822960"/>
          </a:xfrm>
          <a:prstGeom prst="roundRect">
            <a:avLst>
              <a:gd name="adj" fmla="val 8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4325112"/>
            <a:ext cx="103327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700" b="1">
                <a:solidFill>
                  <a:srgbClr val="17243A"/>
                </a:solidFill>
                <a:latin typeface="Arial"/>
              </a:rPr>
              <a:t>Self-priors are fragile on real scans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2B2F3A"/>
                </a:solidFill>
                <a:latin typeface="Arial"/>
              </a:rPr>
              <a:t>Point2Mesh: normal orientation (+0.20 F) and outliers; DHSP: re-mesh before OptCuts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276088"/>
            <a:ext cx="685800" cy="822960"/>
          </a:xfrm>
          <a:prstGeom prst="roundRect">
            <a:avLst>
              <a:gd name="adj" fmla="val 8000"/>
            </a:avLst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276088"/>
            <a:ext cx="6858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34440" y="5276088"/>
            <a:ext cx="10515600" cy="822960"/>
          </a:xfrm>
          <a:prstGeom prst="roundRect">
            <a:avLst>
              <a:gd name="adj" fmla="val 8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1600" y="5312664"/>
            <a:ext cx="103327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700" b="1">
                <a:solidFill>
                  <a:srgbClr val="17243A"/>
                </a:solidFill>
                <a:latin typeface="Arial"/>
              </a:rPr>
              <a:t>Texture comes from the photos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2B2F3A"/>
                </a:solidFill>
                <a:latin typeface="Arial"/>
              </a:rPr>
              <a:t>visibility-aware projection makes the lettering readable; points alone blur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Deliverables and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786384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Week-5 slide 8: presentation · code · one-page document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669280" cy="5029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700" b="1">
                <a:solidFill>
                  <a:srgbClr val="1E7B5C"/>
                </a:solidFill>
                <a:latin typeface="Arial"/>
              </a:rPr>
              <a:t>github.com/anas2908/cv802_assignment_2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0">
                <a:solidFill>
                  <a:srgbClr val="2B2F3A"/>
                </a:solidFill>
                <a:latin typeface="Arial"/>
              </a:rPr>
              <a:t>•  run_viewer.sh — one command, CPU only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0">
                <a:solidFill>
                  <a:srgbClr val="2B2F3A"/>
                </a:solidFill>
                <a:latin typeface="Arial"/>
              </a:rPr>
              <a:t>•  results/ — best mesh of every method × 3 inputs (zipped)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0">
                <a:solidFill>
                  <a:srgbClr val="2B2F3A"/>
                </a:solidFill>
                <a:latin typeface="Arial"/>
              </a:rPr>
              <a:t>•  surface/methods/&lt;method&gt;/ — setup.sh, run.sh, pipeline.json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0">
                <a:solidFill>
                  <a:srgbClr val="2B2F3A"/>
                </a:solidFill>
                <a:latin typeface="Arial"/>
              </a:rPr>
              <a:t>•  surface/common/ — normals, texture, photo texturing, metrics, renderer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0">
                <a:solidFill>
                  <a:srgbClr val="2B2F3A"/>
                </a:solidFill>
                <a:latin typeface="Arial"/>
              </a:rPr>
              <a:t>•  surface/scripts/ — queue, finalize, print export, packaging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0">
                <a:solidFill>
                  <a:srgbClr val="2B2F3A"/>
                </a:solidFill>
                <a:latin typeface="Arial"/>
              </a:rPr>
              <a:t>•  surface/ui/ — server, dashboard, viewer, compare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0">
                <a:solidFill>
                  <a:srgbClr val="2B2F3A"/>
                </a:solidFill>
                <a:latin typeface="Arial"/>
              </a:rPr>
              <a:t>•  surface/docs/ — one-page report, slides, result tables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371600"/>
          <a:ext cx="5394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46888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Deliverable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Where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Textured .obj for every method × input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results/*.zip, viewer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Code (all methods + training)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surface/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One-page report (CVPR style)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surface/docs/deliverables/report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Presentation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surface/docs/deliverables/slides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Mesh viewer (bonus)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run_viewer.sh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B2F3A"/>
                          </a:solidFill>
                          <a:latin typeface="Arial"/>
                        </a:rPr>
                        <a:t>3D-print files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B2F3A"/>
                          </a:solidFill>
                          <a:latin typeface="Arial"/>
                        </a:rPr>
                        <a:t>print/ in each watertight run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Team and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786384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Week-5 slide 9 asks for job assignments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554480"/>
          <a:ext cx="106984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68680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Member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Responsibility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B2F3A"/>
                          </a:solidFill>
                          <a:latin typeface="Arial"/>
                        </a:rPr>
                        <a:t>[name]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B2F3A"/>
                          </a:solidFill>
                          <a:latin typeface="Arial"/>
                        </a:rPr>
                        <a:t>screened Poisson from scratch: normals, solver, marching tetrahedra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B2F3A"/>
                          </a:solidFill>
                          <a:latin typeface="Arial"/>
                        </a:rPr>
                        <a:t>[name]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B2F3A"/>
                          </a:solidFill>
                          <a:latin typeface="Arial"/>
                        </a:rPr>
                        <a:t>learned methods: IER, MeshAnything, NKSR; environments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B2F3A"/>
                          </a:solidFill>
                          <a:latin typeface="Arial"/>
                        </a:rPr>
                        <a:t>[name]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B2F3A"/>
                          </a:solidFill>
                          <a:latin typeface="Arial"/>
                        </a:rPr>
                        <a:t>self-prior methods: Point2Mesh, DHSP (re-mesh + OptCuts pipeline), SAP, 2DGS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B2F3A"/>
                          </a:solidFill>
                          <a:latin typeface="Arial"/>
                        </a:rPr>
                        <a:t>[name]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B2F3A"/>
                          </a:solidFill>
                          <a:latin typeface="Arial"/>
                        </a:rPr>
                        <a:t>photo texturing, metrics, mesh viewer, 3D-print export, report and slides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Thank you — questions?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Backup: metric definitions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786384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All computed against the input cloud P; mesh M sampled with 200k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BACKUP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pic>
        <p:nvPicPr>
          <p:cNvPr id="9" name="Picture 8" descr="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63040"/>
            <a:ext cx="7275479" cy="731520"/>
          </a:xfrm>
          <a:prstGeom prst="rect">
            <a:avLst/>
          </a:prstGeom>
        </p:spPr>
      </p:pic>
      <p:pic>
        <p:nvPicPr>
          <p:cNvPr id="10" name="Picture 9" descr="fsc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514600"/>
            <a:ext cx="9221170" cy="685800"/>
          </a:xfrm>
          <a:prstGeom prst="rect">
            <a:avLst/>
          </a:prstGeom>
        </p:spPr>
      </p:pic>
      <p:pic>
        <p:nvPicPr>
          <p:cNvPr id="11" name="Picture 10" descr="n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520440"/>
            <a:ext cx="4555236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4434840"/>
            <a:ext cx="109728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0">
                <a:solidFill>
                  <a:srgbClr val="2B2F3A"/>
                </a:solidFill>
                <a:latin typeface="Arial"/>
              </a:rPr>
              <a:t>•  τ = 1% (and 0.5%) of the bounding-box diagonal; CD reported as % of the diagonal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0">
                <a:solidFill>
                  <a:srgbClr val="2B2F3A"/>
                </a:solidFill>
                <a:latin typeface="Arial"/>
              </a:rPr>
              <a:t>•  PSNR: texture sampled at the closest surface point of each input point vs that point's RGB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0">
                <a:solidFill>
                  <a:srgbClr val="2B2F3A"/>
                </a:solidFill>
                <a:latin typeface="Arial"/>
              </a:rPr>
              <a:t>•  Limitation: no ground-truth surface — metrics measure agreement with a noisy input, not truth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Backup: runtime and memory (VGGSfM)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786384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One RTX 5000 Ada, 32 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BACKUP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64237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4215"/>
                <a:gridCol w="5002960"/>
                <a:gridCol w="1250740"/>
                <a:gridCol w="1539372"/>
                <a:gridCol w="134695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Run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Faces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Method time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Peak GPU</a:t>
                      </a:r>
                    </a:p>
                  </a:txBody>
                  <a:tcPr marL="45720" marR="45720" marT="9144" marB="9144" anchor="ctr">
                    <a:solidFill>
                      <a:srgbClr val="1724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B2F3A"/>
                          </a:solidFill>
                          <a:latin typeface="Arial"/>
                        </a:rPr>
                        <a:t>Poisson (ours)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poisson-v2-r384-a4-t2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1.02M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39s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3.6 GB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B2F3A"/>
                          </a:solidFill>
                          <a:latin typeface="Arial"/>
                        </a:rPr>
                        <a:t>IER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ier-v1-p12500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17k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29s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B2F3A"/>
                          </a:solidFill>
                          <a:latin typeface="Arial"/>
                        </a:rPr>
                        <a:t>Point2Mesh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point2mesh-v3-paper-unoriented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10k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42min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B2F3A"/>
                          </a:solidFill>
                          <a:latin typeface="Arial"/>
                        </a:rPr>
                        <a:t>MeshAnything V2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meshanything-v2-mesh-mc7-greedy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1.4k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77s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B2F3A"/>
                          </a:solidFill>
                          <a:latin typeface="Arial"/>
                        </a:rPr>
                        <a:t>DHSP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dhsp-v5-lap1-remesh-optcuts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6.0k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101min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B2F3A"/>
                          </a:solidFill>
                          <a:latin typeface="Arial"/>
                        </a:rPr>
                        <a:t>NKSR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nksr-v2-ours-d1-mise1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2.09M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7s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2.9 GB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B2F3A"/>
                          </a:solidFill>
                          <a:latin typeface="Arial"/>
                        </a:rPr>
                        <a:t>SAP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sap-v1-p100k-g256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64k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8min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B2F3A"/>
                          </a:solidFill>
                          <a:latin typeface="Arial"/>
                        </a:rPr>
                        <a:t>2DGS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twodgs-v2-30k-1600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657k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47min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F3A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45720" marR="45720" marT="9144" marB="9144"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Arial"/>
              </a:rPr>
              <a:t>DHSP: 3D prior ≈ 100 min + 2D pipeline ≈ 35 min; photo texturing adds 1-5 min per mesh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82296" cy="566928"/>
          </a:xfrm>
          <a:prstGeom prst="rect">
            <a:avLst/>
          </a:prstGeom>
          <a:solidFill>
            <a:srgbClr val="1E7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2412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000" b="1">
                <a:solidFill>
                  <a:srgbClr val="17243A"/>
                </a:solidFill>
                <a:latin typeface="Arial"/>
              </a:rPr>
              <a:t>Backup: how the code is organised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18288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1">
                <a:solidFill>
                  <a:srgbClr val="1E7B5C"/>
                </a:solidFill>
                <a:latin typeface="Arial"/>
              </a:rPr>
              <a:t>BACKUP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CV802 · Sub-project 2 · Surface Extraction · Anas Khan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1155680" cy="5029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0">
                <a:solidFill>
                  <a:srgbClr val="2B2F3A"/>
                </a:solidFill>
                <a:latin typeface="Courier New"/>
              </a:rPr>
              <a:t>run_viewer.sh                one-command CPU viewer
results/                     packaged meshes per input (zip)
surface/inputs/              the three input clouds
surface/common/              io, knn, normals (PCA+MST), texture (xatlas bake),
                             phototex (photo projection), raster, render, metrics, finalize
surface/methods/poisson/     poisson.py  (our solver + marching tetrahedra)
surface/methods/&lt;m&gt;/         setup.sh · run.sh · pipeline.json   for ier, point2mesh,
                             meshanything, dhsp (+ run_2d.sh), nksr, sap, twodgs
surface/scripts/             node_run, queue, best_queue, extra_queue, finalize,
                             select_best, print_export, clean_cloud, package_results
surface/ui/                  server.py + web/ (dashboard, viewer, compare)
surface/docs/deliverables/   results.json → report, slides, figures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